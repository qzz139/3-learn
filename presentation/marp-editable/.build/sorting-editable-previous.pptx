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17f9794a884d68" /><Relationship Type="http://schemas.openxmlformats.org/officeDocument/2006/relationships/extended-properties" Target="/docProps/app.xml" Id="R3d80963517974d4f" /><Relationship Type="http://schemas.openxmlformats.org/officeDocument/2006/relationships/officeDocument" Target="/ppt/presentation.xml" Id="R3517baf94acb4e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63e80b46574d84"/>
  </p:sldMasterIdLst>
  <p:notesMasterIdLst>
    <p:notesMasterId xmlns:r="http://schemas.openxmlformats.org/officeDocument/2006/relationships" r:id="Ra6d3ea2913ec4537"/>
  </p:notesMasterIdLst>
  <p:sldIdLst>
    <p:sldId xmlns:r="http://schemas.openxmlformats.org/officeDocument/2006/relationships" id="256" r:id="R3d60066eaba944fe"/>
    <p:sldId xmlns:r="http://schemas.openxmlformats.org/officeDocument/2006/relationships" id="257" r:id="R9edd76d65d214a02"/>
    <p:sldId xmlns:r="http://schemas.openxmlformats.org/officeDocument/2006/relationships" id="258" r:id="R4fc3bd1efd3f452e"/>
    <p:sldId xmlns:r="http://schemas.openxmlformats.org/officeDocument/2006/relationships" id="259" r:id="R5c519f89dfda4d6f"/>
    <p:sldId xmlns:r="http://schemas.openxmlformats.org/officeDocument/2006/relationships" id="260" r:id="R107fb4b2768d46da"/>
    <p:sldId xmlns:r="http://schemas.openxmlformats.org/officeDocument/2006/relationships" id="261" r:id="R50f02d87cdf749dc"/>
    <p:sldId xmlns:r="http://schemas.openxmlformats.org/officeDocument/2006/relationships" id="262" r:id="R22e8d79c7194437a"/>
    <p:sldId xmlns:r="http://schemas.openxmlformats.org/officeDocument/2006/relationships" id="263" r:id="R42c950baa9924d37"/>
    <p:sldId xmlns:r="http://schemas.openxmlformats.org/officeDocument/2006/relationships" id="264" r:id="R14663271f52e4468"/>
    <p:sldId xmlns:r="http://schemas.openxmlformats.org/officeDocument/2006/relationships" id="265" r:id="Ra0ed9a0709e545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4570328a745b9" /><Relationship Type="http://schemas.openxmlformats.org/officeDocument/2006/relationships/slideMaster" Target="/ppt/slideMasters/slideMaster1.xml" Id="R7563e80b46574d84" /><Relationship Type="http://schemas.openxmlformats.org/officeDocument/2006/relationships/notesMaster" Target="/ppt/notesMasters/notesMaster1.xml" Id="Ra6d3ea2913ec4537" /><Relationship Type="http://schemas.openxmlformats.org/officeDocument/2006/relationships/presProps" Target="/ppt/presProps.xml" Id="R336facd7a62b4bc7" /><Relationship Type="http://schemas.openxmlformats.org/officeDocument/2006/relationships/tableStyles" Target="/ppt/tableStyles.xml" Id="R414912ff4fc84393" /><Relationship Type="http://schemas.openxmlformats.org/officeDocument/2006/relationships/slide" Target="/ppt/slides/slide1.xml" Id="R3d60066eaba944fe" /><Relationship Type="http://schemas.openxmlformats.org/officeDocument/2006/relationships/slide" Target="/ppt/slides/slide2.xml" Id="R9edd76d65d214a02" /><Relationship Type="http://schemas.openxmlformats.org/officeDocument/2006/relationships/slide" Target="/ppt/slides/slide3.xml" Id="R4fc3bd1efd3f452e" /><Relationship Type="http://schemas.openxmlformats.org/officeDocument/2006/relationships/slide" Target="/ppt/slides/slide4.xml" Id="R5c519f89dfda4d6f" /><Relationship Type="http://schemas.openxmlformats.org/officeDocument/2006/relationships/slide" Target="/ppt/slides/slide5.xml" Id="R107fb4b2768d46da" /><Relationship Type="http://schemas.openxmlformats.org/officeDocument/2006/relationships/slide" Target="/ppt/slides/slide6.xml" Id="R50f02d87cdf749dc" /><Relationship Type="http://schemas.openxmlformats.org/officeDocument/2006/relationships/slide" Target="/ppt/slides/slide7.xml" Id="R22e8d79c7194437a" /><Relationship Type="http://schemas.openxmlformats.org/officeDocument/2006/relationships/slide" Target="/ppt/slides/slide8.xml" Id="R42c950baa9924d37" /><Relationship Type="http://schemas.openxmlformats.org/officeDocument/2006/relationships/slide" Target="/ppt/slides/slide9.xml" Id="R14663271f52e4468" /><Relationship Type="http://schemas.openxmlformats.org/officeDocument/2006/relationships/slide" Target="/ppt/slides/slide10.xml" Id="Ra0ed9a0709e545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bc899f03304e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b57458bbeb44ec" /><Relationship Type="http://schemas.openxmlformats.org/officeDocument/2006/relationships/notesMaster" Target="/ppt/notesMasters/notesMaster1.xml" Id="R135c927d00b144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dd7192066d40c4" /><Relationship Type="http://schemas.openxmlformats.org/officeDocument/2006/relationships/notesMaster" Target="/ppt/notesMasters/notesMaster1.xml" Id="R38736040e5ad44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3c45ee57574a01" /><Relationship Type="http://schemas.openxmlformats.org/officeDocument/2006/relationships/notesMaster" Target="/ppt/notesMasters/notesMaster1.xml" Id="R6bb2e6631f3447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e9be58cad492d" /><Relationship Type="http://schemas.openxmlformats.org/officeDocument/2006/relationships/notesMaster" Target="/ppt/notesMasters/notesMaster1.xml" Id="R29057a365e3441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befa58dba946f5" /><Relationship Type="http://schemas.openxmlformats.org/officeDocument/2006/relationships/notesMaster" Target="/ppt/notesMasters/notesMaster1.xml" Id="R00e4e5db590846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cb905fa5224ed0" /><Relationship Type="http://schemas.openxmlformats.org/officeDocument/2006/relationships/notesMaster" Target="/ppt/notesMasters/notesMaster1.xml" Id="R088896d6992e4d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c7485469f842b1" /><Relationship Type="http://schemas.openxmlformats.org/officeDocument/2006/relationships/notesMaster" Target="/ppt/notesMasters/notesMaster1.xml" Id="R31aa0039831c44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ecbd7871764f37" /><Relationship Type="http://schemas.openxmlformats.org/officeDocument/2006/relationships/notesMaster" Target="/ppt/notesMasters/notesMaster1.xml" Id="R1b8188bb70d344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a7ba674dd04a40" /><Relationship Type="http://schemas.openxmlformats.org/officeDocument/2006/relationships/notesMaster" Target="/ppt/notesMasters/notesMaster1.xml" Id="R58a56fd87a1146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966012712b4f9a" /><Relationship Type="http://schemas.openxmlformats.org/officeDocument/2006/relationships/notesMaster" Target="/ppt/notesMasters/notesMaster1.xml" Id="R3e8cb6c0e83244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Marp 源稿：presentation/marp-editable/slides.md。文字、代码、表格和导图采用可编辑原生对象。</a:t>
            </a:r>
          </a:p>
          <a:p xmlns:a="http://schemas.openxmlformats.org/drawingml/2006/main">
            <a:r>
              <a:t>References: https://github.com/jeguzzi/robomaster_ros</a:t>
            </a:r>
          </a:p>
          <a:p xmlns:a="http://schemas.openxmlformats.org/drawingml/2006/main">
            <a:r>
              <a:t>https://docs.ultralytics.com/models/yolo26/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f7856509646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a14675c0b84274" /><Relationship Type="http://schemas.openxmlformats.org/officeDocument/2006/relationships/slideLayout" Target="/ppt/slideLayouts/slideLayout1.xml" Id="Rb922229d7c25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22229d7c25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48b18a7f2414c" /><Relationship Type="http://schemas.openxmlformats.org/officeDocument/2006/relationships/image" Target="/ppt/media/image.jpeg" Id="R2a162b67feb74bee" /><Relationship Type="http://schemas.openxmlformats.org/officeDocument/2006/relationships/notesSlide" Target="/ppt/notesSlides/notesSlide1.xml" Id="R5c9f5ace67dd45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2459cfce44878" /><Relationship Type="http://schemas.openxmlformats.org/officeDocument/2006/relationships/notesSlide" Target="/ppt/notesSlides/notesSlide2.xml" Id="R83d37eaecaf943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6e1c2685b48e2" /><Relationship Type="http://schemas.openxmlformats.org/officeDocument/2006/relationships/notesSlide" Target="/ppt/notesSlides/notesSlide3.xml" Id="R042f5f7619fd48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ccfaf22424614" /><Relationship Type="http://schemas.openxmlformats.org/officeDocument/2006/relationships/image" Target="/ppt/media/image2.jpeg" Id="R00dc76dfb0cc4e15" /><Relationship Type="http://schemas.openxmlformats.org/officeDocument/2006/relationships/notesSlide" Target="/ppt/notesSlides/notesSlide4.xml" Id="R6ae4e8bd98c84c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d0ed50e3a4a7e" /><Relationship Type="http://schemas.openxmlformats.org/officeDocument/2006/relationships/notesSlide" Target="/ppt/notesSlides/notesSlide5.xml" Id="R447078ed7ed24c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94b2f3af54929" /><Relationship Type="http://schemas.openxmlformats.org/officeDocument/2006/relationships/notesSlide" Target="/ppt/notesSlides/notesSlide6.xml" Id="R5e0eb133eb2c4a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c96ef5ad04408" /><Relationship Type="http://schemas.openxmlformats.org/officeDocument/2006/relationships/notesSlide" Target="/ppt/notesSlides/notesSlide7.xml" Id="Rc78a56c2615f47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ce4ea5d044755" /><Relationship Type="http://schemas.openxmlformats.org/officeDocument/2006/relationships/notesSlide" Target="/ppt/notesSlides/notesSlide8.xml" Id="R2eaf9e9ac0eb4a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c3c2af534446f" /><Relationship Type="http://schemas.openxmlformats.org/officeDocument/2006/relationships/notesSlide" Target="/ppt/notesSlides/notesSlide9.xml" Id="R312381f18e6a47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cb50ea30249e9" /><Relationship Type="http://schemas.openxmlformats.org/officeDocument/2006/relationships/hyperlink" Target="https://github.com/jeguzzi/robomaster_ros" TargetMode="External" Id="R48535b6845f646fe" /><Relationship Type="http://schemas.openxmlformats.org/officeDocument/2006/relationships/hyperlink" Target="https://docs.ultralytics.com/models/yolo26/" TargetMode="External" Id="Reb700f2af2b849d8" /><Relationship Type="http://schemas.openxmlformats.org/officeDocument/2006/relationships/notesSlide" Target="/ppt/notesSlides/notesSlide10.xml" Id="R92503d46768740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62b67feb74bee"/>
          <a:stretch xmlns:a="http://schemas.openxmlformats.org/drawingml/2006/main"/>
        </p:blipFill>
        <p:spPr>
          <a:xfrm xmlns:a="http://schemas.openxmlformats.org/drawingml/2006/main">
            <a:off x="7315200" y="176529"/>
            <a:ext cx="4876800" cy="6504942"/>
          </a:xfrm>
          <a:prstGeom xmlns:a="http://schemas.openxmlformats.org/drawingml/2006/main" prst="rect">
            <a:avLst/>
          </a:prstGeom>
        </p:spPr>
      </p:pic>
      <p:sp>
        <p:nvSpPr>
          <p:cNvPr id="2" name="RoboMaster EP&#10;视觉分拣">
            <a:extLst xmlns:a="http://schemas.openxmlformats.org/drawingml/2006/main">
              <a:ext uri="{FF2B5EF4-FFF2-40B4-BE49-F238E27FC236}">
                <a16:creationId xmlns:a16="http://schemas.microsoft.com/office/drawing/2014/main" id="{0C53D558-C011-44F9-B8D1-9B34DAA3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8239"/>
            <a:ext cx="5943600" cy="1645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RoboMaster EP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视觉分拣</a:t>
            </a:r>
          </a:p>
        </p:txBody>
      </p:sp>
      <p:sp>
        <p:nvSpPr>
          <p:cNvPr id="3" name="Jetson × YOLO26">
            <a:extLst xmlns:a="http://schemas.openxmlformats.org/drawingml/2006/main">
              <a:ext uri="{FF2B5EF4-FFF2-40B4-BE49-F238E27FC236}">
                <a16:creationId xmlns:a16="http://schemas.microsoft.com/office/drawing/2014/main" id="{35090120-CC1D-4BAD-9675-DD9893F5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7356"/>
            <a:ext cx="5943600" cy="428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7C8B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57C8B9"/>
                </a:solidFill>
                <a:latin typeface="PingFang SC"/>
                <a:ea typeface="PingFang SC"/>
                <a:cs typeface="PingFang SC"/>
              </a:rPr>
              <a:t>Jetson × YOLO26</a:t>
            </a:r>
          </a:p>
        </p:txBody>
      </p:sp>
      <p:sp>
        <p:nvSpPr>
          <p:cNvPr id="4" name="网球与水瓶的自主识别、接近、抓取与分类放置">
            <a:extLst xmlns:a="http://schemas.openxmlformats.org/drawingml/2006/main">
              <a:ext uri="{FF2B5EF4-FFF2-40B4-BE49-F238E27FC236}">
                <a16:creationId xmlns:a16="http://schemas.microsoft.com/office/drawing/2014/main" id="{78B4FD6A-33DC-45E0-A5BF-2887B67A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8761"/>
            <a:ext cx="594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1C6C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1C6C4"/>
                </a:solidFill>
                <a:latin typeface="PingFang SC"/>
                <a:ea typeface="PingFang SC"/>
                <a:cs typeface="PingFang SC"/>
              </a:rPr>
              <a:t>网球与水瓶的自主识别、接近、抓取与分类放置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FA3C364A-38E6-4AD8-A5C8-4888EBB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29457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小组分工">
            <a:extLst xmlns:a="http://schemas.openxmlformats.org/drawingml/2006/main">
              <a:ext uri="{FF2B5EF4-FFF2-40B4-BE49-F238E27FC236}">
                <a16:creationId xmlns:a16="http://schemas.microsoft.com/office/drawing/2014/main" id="{0B447061-A51C-433F-8BDA-EBF9E45A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820400" cy="79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小组分工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2295376"/>
          <a:ext xmlns:a="http://schemas.openxmlformats.org/drawingml/2006/main" cx="10820400" cy="3409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05438"/>
                <a:gridCol w="5405438"/>
              </a:tblGrid>
              <a:tr h="566738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负责内容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许轩烨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总监、实机程序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占钟灵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仿真、程序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于瀚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模型、程序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公昕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仿真、程序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袁梓涵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6171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场地搭建、PPT 制作</a:t>
                      </a:r>
                    </a:p>
                  </a:txBody>
                  <a:tcPr marL="91440" marR="91440" marT="45720" marB="45720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3" name="2">
            <a:extLst xmlns:a="http://schemas.openxmlformats.org/drawingml/2006/main">
              <a:ext uri="{FF2B5EF4-FFF2-40B4-BE49-F238E27FC236}">
                <a16:creationId xmlns:a16="http://schemas.microsoft.com/office/drawing/2014/main" id="{AC883668-EFC6-4D64-903E-4FEF2E7B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5575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F2D84-3739-4A53-B57A-1E2AE235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7914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700FE-6D16-4234-9DE9-DA401DAB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251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36282-51C2-4C39-8962-7414C655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589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DDB28-725B-4D2A-A640-105BBF6F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3926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01　总览">
            <a:extLst xmlns:a="http://schemas.openxmlformats.org/drawingml/2006/main">
              <a:ext uri="{FF2B5EF4-FFF2-40B4-BE49-F238E27FC236}">
                <a16:creationId xmlns:a16="http://schemas.microsoft.com/office/drawing/2014/main" id="{305DAB94-BA86-4268-BC2F-2322B5EE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10820400" cy="79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01　总览</a:t>
            </a:r>
          </a:p>
        </p:txBody>
      </p:sp>
      <p:sp>
        <p:nvSpPr>
          <p:cNvPr id="6" name="从视觉识别到实际分拣，建立完整任务流程。">
            <a:extLst xmlns:a="http://schemas.openxmlformats.org/drawingml/2006/main">
              <a:ext uri="{FF2B5EF4-FFF2-40B4-BE49-F238E27FC236}">
                <a16:creationId xmlns:a16="http://schemas.microsoft.com/office/drawing/2014/main" id="{A123C747-7B8D-4990-8350-BEE04E0B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776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9615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从视觉识别到实际分拣，建立完整任务流程。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177EC8E1-D198-4FEC-BB86-14ACC2EE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026"/>
            <a:ext cx="7143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总览">
            <a:extLst xmlns:a="http://schemas.openxmlformats.org/drawingml/2006/main">
              <a:ext uri="{FF2B5EF4-FFF2-40B4-BE49-F238E27FC236}">
                <a16:creationId xmlns:a16="http://schemas.microsoft.com/office/drawing/2014/main" id="{C86F1C08-8DCD-4E8F-959C-3F635B5B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38760"/>
            <a:ext cx="2000250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总览</a:t>
            </a:r>
          </a:p>
        </p:txBody>
      </p:sp>
      <p:sp>
        <p:nvSpPr>
          <p:cNvPr id="9" name="任务目标、设备连接与系统分工">
            <a:extLst xmlns:a="http://schemas.openxmlformats.org/drawingml/2006/main">
              <a:ext uri="{FF2B5EF4-FFF2-40B4-BE49-F238E27FC236}">
                <a16:creationId xmlns:a16="http://schemas.microsoft.com/office/drawing/2014/main" id="{66B136A1-6B87-4D19-9DDC-8DA65CBF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8760"/>
            <a:ext cx="7724775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任务目标、设备连接与系统分工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569CE14E-FF78-4433-B10A-C38AED48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9364"/>
            <a:ext cx="7143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实机细节">
            <a:extLst xmlns:a="http://schemas.openxmlformats.org/drawingml/2006/main">
              <a:ext uri="{FF2B5EF4-FFF2-40B4-BE49-F238E27FC236}">
                <a16:creationId xmlns:a16="http://schemas.microsoft.com/office/drawing/2014/main" id="{E1F83C81-8A96-426A-80F4-494CF5AB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734098"/>
            <a:ext cx="2000250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实机细节</a:t>
            </a:r>
          </a:p>
        </p:txBody>
      </p:sp>
      <p:sp>
        <p:nvSpPr>
          <p:cNvPr id="12" name="Pickup → Align → Combine">
            <a:extLst xmlns:a="http://schemas.openxmlformats.org/drawingml/2006/main">
              <a:ext uri="{FF2B5EF4-FFF2-40B4-BE49-F238E27FC236}">
                <a16:creationId xmlns:a16="http://schemas.microsoft.com/office/drawing/2014/main" id="{3C16B3F3-5632-40C3-9A77-1C44E38E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34098"/>
            <a:ext cx="7724775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Pickup → Align → Combine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CD8535A8-6A56-441F-B21F-09CDA3AD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701"/>
            <a:ext cx="7143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模型训练">
            <a:extLst xmlns:a="http://schemas.openxmlformats.org/drawingml/2006/main">
              <a:ext uri="{FF2B5EF4-FFF2-40B4-BE49-F238E27FC236}">
                <a16:creationId xmlns:a16="http://schemas.microsoft.com/office/drawing/2014/main" id="{B539D30D-661A-44EC-868E-87745E26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29435"/>
            <a:ext cx="2000250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15" name="保留章节背景，后续补充">
            <a:extLst xmlns:a="http://schemas.openxmlformats.org/drawingml/2006/main">
              <a:ext uri="{FF2B5EF4-FFF2-40B4-BE49-F238E27FC236}">
                <a16:creationId xmlns:a16="http://schemas.microsoft.com/office/drawing/2014/main" id="{D05A8A56-7149-4513-8449-D5ABF7FF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29435"/>
            <a:ext cx="7724775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保留章节背景，后续补充</a:t>
            </a:r>
          </a:p>
        </p:txBody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7C9DDD18-9F11-48D6-B8B1-B967F3AC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0039"/>
            <a:ext cx="7143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92999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仿真细节">
            <a:extLst xmlns:a="http://schemas.openxmlformats.org/drawingml/2006/main">
              <a:ext uri="{FF2B5EF4-FFF2-40B4-BE49-F238E27FC236}">
                <a16:creationId xmlns:a16="http://schemas.microsoft.com/office/drawing/2014/main" id="{ED3591E0-6295-4872-80CA-60C16075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324773"/>
            <a:ext cx="2000250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仿真细节</a:t>
            </a:r>
          </a:p>
        </p:txBody>
      </p:sp>
      <p:sp>
        <p:nvSpPr>
          <p:cNvPr id="18" name="保留章节背景，后续补充">
            <a:extLst xmlns:a="http://schemas.openxmlformats.org/drawingml/2006/main">
              <a:ext uri="{FF2B5EF4-FFF2-40B4-BE49-F238E27FC236}">
                <a16:creationId xmlns:a16="http://schemas.microsoft.com/office/drawing/2014/main" id="{43C709B2-6DFD-4735-866A-965E559B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324773"/>
            <a:ext cx="7724775" cy="413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保留章节背景，后续补充</a:t>
            </a:r>
          </a:p>
        </p:txBody>
      </p:sp>
      <p:sp>
        <p:nvSpPr>
          <p:cNvPr id="19" name="3">
            <a:extLst xmlns:a="http://schemas.openxmlformats.org/drawingml/2006/main">
              <a:ext uri="{FF2B5EF4-FFF2-40B4-BE49-F238E27FC236}">
                <a16:creationId xmlns:a16="http://schemas.microsoft.com/office/drawing/2014/main" id="{A6B00905-8BC8-445D-A158-15A91879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0959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c76dfb0cc4e15"/>
          <a:stretch xmlns:a="http://schemas.openxmlformats.org/drawingml/2006/main"/>
        </p:blipFill>
        <p:spPr>
          <a:xfrm xmlns:a="http://schemas.openxmlformats.org/drawingml/2006/main">
            <a:off x="6999871" y="0"/>
            <a:ext cx="514149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两类物品，六个目标">
            <a:extLst xmlns:a="http://schemas.openxmlformats.org/drawingml/2006/main">
              <a:ext uri="{FF2B5EF4-FFF2-40B4-BE49-F238E27FC236}">
                <a16:creationId xmlns:a16="http://schemas.microsoft.com/office/drawing/2014/main" id="{6CFB7548-7065-43FF-875C-72EF5E8E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9139"/>
            <a:ext cx="5577780" cy="671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两类物品，六个目标</a:t>
            </a:r>
          </a:p>
        </p:txBody>
      </p:sp>
      <p:sp>
        <p:nvSpPr>
          <p:cNvPr id="3" name="围绕小车摆放 3 个网球、3 个水瓶。">
            <a:extLst xmlns:a="http://schemas.openxmlformats.org/drawingml/2006/main">
              <a:ext uri="{FF2B5EF4-FFF2-40B4-BE49-F238E27FC236}">
                <a16:creationId xmlns:a16="http://schemas.microsoft.com/office/drawing/2014/main" id="{E47E8EAA-664F-4771-98BB-32DFDA24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3403"/>
            <a:ext cx="55777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围绕小车摆放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3 个网球、3 个水瓶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4" name="相对小车启动朝向：">
            <a:extLst xmlns:a="http://schemas.openxmlformats.org/drawingml/2006/main">
              <a:ext uri="{FF2B5EF4-FFF2-40B4-BE49-F238E27FC236}">
                <a16:creationId xmlns:a16="http://schemas.microsoft.com/office/drawing/2014/main" id="{ED1465C6-2D7A-48AB-91F4-856BE137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6265"/>
            <a:ext cx="55777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相对小车启动朝向：</a:t>
            </a:r>
          </a:p>
        </p:txBody>
      </p:sp>
      <p:sp>
        <p:nvSpPr>
          <p:cNvPr id="5" name="右侧区域放球。">
            <a:extLst xmlns:a="http://schemas.openxmlformats.org/drawingml/2006/main">
              <a:ext uri="{FF2B5EF4-FFF2-40B4-BE49-F238E27FC236}">
                <a16:creationId xmlns:a16="http://schemas.microsoft.com/office/drawing/2014/main" id="{5CFC4EA6-2C79-4A3B-BAB3-62877A7D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8177"/>
            <a:ext cx="50062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右侧区域放球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6" name="左侧区域放瓶子。">
            <a:extLst xmlns:a="http://schemas.openxmlformats.org/drawingml/2006/main">
              <a:ext uri="{FF2B5EF4-FFF2-40B4-BE49-F238E27FC236}">
                <a16:creationId xmlns:a16="http://schemas.microsoft.com/office/drawing/2014/main" id="{498C3881-E6B6-4D1B-8C2D-C697D51D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40088"/>
            <a:ext cx="50062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左侧区域放瓶子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每区固定 三个角度放置位。">
            <a:extLst xmlns:a="http://schemas.openxmlformats.org/drawingml/2006/main">
              <a:ext uri="{FF2B5EF4-FFF2-40B4-BE49-F238E27FC236}">
                <a16:creationId xmlns:a16="http://schemas.microsoft.com/office/drawing/2014/main" id="{11A77ADE-D34D-4E6A-9F00-8A04A82A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5006280" cy="398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每区固定 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三个角度放置位</a:t>
            </a: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8" name="照片为实物布局；左右由小车启动朝向定义。">
            <a:extLst xmlns:a="http://schemas.openxmlformats.org/drawingml/2006/main">
              <a:ext uri="{FF2B5EF4-FFF2-40B4-BE49-F238E27FC236}">
                <a16:creationId xmlns:a16="http://schemas.microsoft.com/office/drawing/2014/main" id="{6C432518-8CD4-4FF5-BD73-D339589F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2962"/>
            <a:ext cx="55777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照片为实物布局；左右由小车启动朝向定义。</a:t>
            </a:r>
          </a:p>
        </p:txBody>
      </p:sp>
      <p:sp>
        <p:nvSpPr>
          <p:cNvPr id="9" name="4">
            <a:extLst xmlns:a="http://schemas.openxmlformats.org/drawingml/2006/main">
              <a:ext uri="{FF2B5EF4-FFF2-40B4-BE49-F238E27FC236}">
                <a16:creationId xmlns:a16="http://schemas.microsoft.com/office/drawing/2014/main" id="{7057EB38-7DAC-4FB0-A758-4F05B682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034557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E1AEB-6F9C-4F5F-9D41-347C2D0E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3236"/>
            <a:ext cx="30296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7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89482-BF9B-4956-BBB0-51A08012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27" y="2313236"/>
            <a:ext cx="30296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7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4CAF2-463F-496F-91D5-83C31E51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506" y="2313236"/>
            <a:ext cx="30296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75"/>
            </a:solidFill>
          </a:ln>
        </p:spPr>
      </p:sp>
      <p:sp>
        <p:nvSpPr>
          <p:cNvPr id="4" name="开发与控制连接">
            <a:extLst xmlns:a="http://schemas.openxmlformats.org/drawingml/2006/main">
              <a:ext uri="{FF2B5EF4-FFF2-40B4-BE49-F238E27FC236}">
                <a16:creationId xmlns:a16="http://schemas.microsoft.com/office/drawing/2014/main" id="{41D6C273-7D0D-440F-B6D9-5FDF6A89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2284"/>
            <a:ext cx="10820400" cy="79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开发与控制连接</a:t>
            </a:r>
          </a:p>
        </p:txBody>
      </p:sp>
      <p:sp>
        <p:nvSpPr>
          <p:cNvPr id="5" name="MacBook">
            <a:extLst xmlns:a="http://schemas.openxmlformats.org/drawingml/2006/main">
              <a:ext uri="{FF2B5EF4-FFF2-40B4-BE49-F238E27FC236}">
                <a16:creationId xmlns:a16="http://schemas.microsoft.com/office/drawing/2014/main" id="{43EF344B-A5C7-4D8F-8E2F-20BD386D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1836"/>
            <a:ext cx="3029694" cy="487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MacBook</a:t>
            </a:r>
          </a:p>
        </p:txBody>
      </p:sp>
      <p:sp>
        <p:nvSpPr>
          <p:cNvPr id="6" name="代码开发&#10;SSH：远程终端&#10;VNC：屏幕共享">
            <a:extLst xmlns:a="http://schemas.openxmlformats.org/drawingml/2006/main">
              <a:ext uri="{FF2B5EF4-FFF2-40B4-BE49-F238E27FC236}">
                <a16:creationId xmlns:a16="http://schemas.microsoft.com/office/drawing/2014/main" id="{E8795983-7A02-4F05-8239-367529C4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029694" cy="119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代码开发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SSH：远程终端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VNC：屏幕共享</a:t>
            </a:r>
          </a:p>
        </p:txBody>
      </p:sp>
      <p:sp>
        <p:nvSpPr>
          <p:cNvPr id="7" name="→">
            <a:extLst xmlns:a="http://schemas.openxmlformats.org/drawingml/2006/main">
              <a:ext uri="{FF2B5EF4-FFF2-40B4-BE49-F238E27FC236}">
                <a16:creationId xmlns:a16="http://schemas.microsoft.com/office/drawing/2014/main" id="{A8AA590D-3877-4C48-9241-B6ED6AB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311" y="3102769"/>
            <a:ext cx="361950" cy="560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87C75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087C7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Jetson OrinX">
            <a:extLst xmlns:a="http://schemas.openxmlformats.org/drawingml/2006/main">
              <a:ext uri="{FF2B5EF4-FFF2-40B4-BE49-F238E27FC236}">
                <a16:creationId xmlns:a16="http://schemas.microsoft.com/office/drawing/2014/main" id="{6260C31D-3E9C-4DFB-9046-704ED5E9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27" y="2541836"/>
            <a:ext cx="3029694" cy="487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Jetson OrinX</a:t>
            </a:r>
          </a:p>
        </p:txBody>
      </p:sp>
      <p:sp>
        <p:nvSpPr>
          <p:cNvPr id="9" name="Python 主程序&#10;YOLO 图像推理&#10;任务与动作控制">
            <a:extLst xmlns:a="http://schemas.openxmlformats.org/drawingml/2006/main">
              <a:ext uri="{FF2B5EF4-FFF2-40B4-BE49-F238E27FC236}">
                <a16:creationId xmlns:a16="http://schemas.microsoft.com/office/drawing/2014/main" id="{22519B3C-15BD-46FD-BA0E-98D6F3EE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27" y="3143250"/>
            <a:ext cx="3029694" cy="119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Python 主程序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YOLO 图像推理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任务与动作控制</a:t>
            </a:r>
          </a:p>
        </p:txBody>
      </p:sp>
      <p:sp>
        <p:nvSpPr>
          <p:cNvPr id="10" name="→">
            <a:extLst xmlns:a="http://schemas.openxmlformats.org/drawingml/2006/main">
              <a:ext uri="{FF2B5EF4-FFF2-40B4-BE49-F238E27FC236}">
                <a16:creationId xmlns:a16="http://schemas.microsoft.com/office/drawing/2014/main" id="{AB53FCCB-E544-4617-9507-3FE2971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2739" y="3102769"/>
            <a:ext cx="361950" cy="560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87C75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087C7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RoboMaster EP">
            <a:extLst xmlns:a="http://schemas.openxmlformats.org/drawingml/2006/main">
              <a:ext uri="{FF2B5EF4-FFF2-40B4-BE49-F238E27FC236}">
                <a16:creationId xmlns:a16="http://schemas.microsoft.com/office/drawing/2014/main" id="{DDCA94B6-99E0-46B4-B7A0-108212FD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506" y="2541836"/>
            <a:ext cx="3029694" cy="487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RoboMaster EP</a:t>
            </a:r>
          </a:p>
        </p:txBody>
      </p:sp>
      <p:sp>
        <p:nvSpPr>
          <p:cNvPr id="12" name="相机、红外反馈&#10;底盘移动与转向&#10;机械臂、夹爪执行">
            <a:extLst xmlns:a="http://schemas.openxmlformats.org/drawingml/2006/main">
              <a:ext uri="{FF2B5EF4-FFF2-40B4-BE49-F238E27FC236}">
                <a16:creationId xmlns:a16="http://schemas.microsoft.com/office/drawing/2014/main" id="{38A6785A-0875-41C9-971F-E95FDE18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506" y="3143250"/>
            <a:ext cx="3029694" cy="119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相机、红外反馈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底盘移动与转向</a:t>
            </a:r>
          </a:p>
          <a:p xmlns:a="http://schemas.openxmlformats.org/drawingml/2006/main">
            <a:pPr algn="l">
              <a:def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机械臂、夹爪执行</a:t>
            </a:r>
          </a:p>
        </p:txBody>
      </p:sp>
      <p:sp>
        <p:nvSpPr>
          <p:cNvPr id="13" name="SSH / VNC　MacBook 远程控制 Jetson&#10;Wi-Fi / SDK　Jet">
            <a:extLst xmlns:a="http://schemas.openxmlformats.org/drawingml/2006/main">
              <a:ext uri="{FF2B5EF4-FFF2-40B4-BE49-F238E27FC236}">
                <a16:creationId xmlns:a16="http://schemas.microsoft.com/office/drawing/2014/main" id="{E3985657-EC11-40BC-B483-F571801F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4235"/>
            <a:ext cx="10820400" cy="89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SSH / VNC</a:t>
            </a:r>
            <a:r>
              <a: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　MacBook 远程控制 Jetson</a:t>
            </a:r>
          </a:p>
          <a:p xmlns:a="http://schemas.openxmlformats.org/drawingml/2006/main">
            <a:pPr algn="l">
              <a:def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Wi-Fi / SDK</a:t>
            </a:r>
            <a:r>
              <a:rPr sz="1950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　Jetson 连接 EP，传递图像、反馈与动作</a:t>
            </a:r>
          </a:p>
        </p:txBody>
      </p:sp>
      <p:sp>
        <p:nvSpPr>
          <p:cNvPr id="14" name="5">
            <a:extLst xmlns:a="http://schemas.openxmlformats.org/drawingml/2006/main">
              <a:ext uri="{FF2B5EF4-FFF2-40B4-BE49-F238E27FC236}">
                <a16:creationId xmlns:a16="http://schemas.microsoft.com/office/drawing/2014/main" id="{57804900-F37A-444D-8DA6-E270CADD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0114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5BB81E-55B2-4635-97D7-CB88F5F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151"/>
            <a:ext cx="34162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8F1FD-29A4-4E75-89A9-5C2C85AA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01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70ACC-5756-4465-84EC-B95992B2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476"/>
            <a:ext cx="34162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8CBC2-34DE-410D-B15A-D6766780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4EFDE-7F32-484A-B8F9-13ACABA6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40237"/>
            <a:ext cx="30542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0C78F-0F8B-4EA8-B768-6F606DCF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751" y="2019151"/>
            <a:ext cx="341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6DC9E-26DC-4599-B1A6-4D4512CD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00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CA40-DCEB-44E3-8E2E-C0F21388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751" y="5381476"/>
            <a:ext cx="341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3836D-83BC-4B3A-9A72-7D28A6EC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751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9D5E9-F556-4B41-9022-66253EA8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4040237"/>
            <a:ext cx="30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ED713-C04D-4B6C-AE85-A47FB0AA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150" y="2019151"/>
            <a:ext cx="34162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38A4C-E780-4195-BCDF-D161DD8D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351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5F382-B0F0-46D3-8759-AECB2D5E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150" y="5381476"/>
            <a:ext cx="34162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9C6A6-FC29-4B46-ACBA-2C5FE7D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150" y="2019151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7918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44754-5126-4627-B350-99F871BC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4040237"/>
            <a:ext cx="30542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</a:ln>
        </p:spPr>
      </p:sp>
      <p:sp>
        <p:nvSpPr>
          <p:cNvPr id="16" name="02　实机细节">
            <a:extLst xmlns:a="http://schemas.openxmlformats.org/drawingml/2006/main">
              <a:ext uri="{FF2B5EF4-FFF2-40B4-BE49-F238E27FC236}">
                <a16:creationId xmlns:a16="http://schemas.microsoft.com/office/drawing/2014/main" id="{FC05E2A7-B460-446B-80E5-F0E2E161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3"/>
            <a:ext cx="11049000" cy="685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02　实机细节</a:t>
            </a:r>
          </a:p>
        </p:txBody>
      </p:sp>
      <p:sp>
        <p:nvSpPr>
          <p:cNvPr id="17" name="Pickup → Align → Combine：从动作验证到自主分拣">
            <a:extLst xmlns:a="http://schemas.openxmlformats.org/drawingml/2006/main">
              <a:ext uri="{FF2B5EF4-FFF2-40B4-BE49-F238E27FC236}">
                <a16:creationId xmlns:a16="http://schemas.microsoft.com/office/drawing/2014/main" id="{D854B500-EAFA-4CE8-B98E-37354672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2414"/>
            <a:ext cx="11049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15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9615F"/>
                </a:solidFill>
                <a:latin typeface="PingFang SC"/>
                <a:ea typeface="PingFang SC"/>
                <a:cs typeface="PingFang SC"/>
              </a:rPr>
              <a:t>Pickup → Align → Combine：从动作验证到自主分拣</a:t>
            </a:r>
          </a:p>
        </p:txBody>
      </p:sp>
      <p:sp>
        <p:nvSpPr>
          <p:cNvPr id="18" name="STEP 01 · DEMO 1">
            <a:extLst xmlns:a="http://schemas.openxmlformats.org/drawingml/2006/main">
              <a:ext uri="{FF2B5EF4-FFF2-40B4-BE49-F238E27FC236}">
                <a16:creationId xmlns:a16="http://schemas.microsoft.com/office/drawing/2014/main" id="{22953307-417B-4959-92A9-444172F0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126"/>
            <a:ext cx="30542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STEP 01 · DEMO 1</a:t>
            </a:r>
          </a:p>
        </p:txBody>
      </p:sp>
      <p:sp>
        <p:nvSpPr>
          <p:cNvPr id="19" name="Pickup">
            <a:extLst xmlns:a="http://schemas.openxmlformats.org/drawingml/2006/main">
              <a:ext uri="{FF2B5EF4-FFF2-40B4-BE49-F238E27FC236}">
                <a16:creationId xmlns:a16="http://schemas.microsoft.com/office/drawing/2014/main" id="{500A0509-65E6-4082-9C03-CD822726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47776"/>
            <a:ext cx="3054251" cy="47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Pickup</a:t>
            </a:r>
          </a:p>
        </p:txBody>
      </p:sp>
      <p:sp>
        <p:nvSpPr>
          <p:cNvPr id="20" name="红外触发 → 夹紧&#10;内收搬运 → 转向放置&#10;YOLO 独立记录日志">
            <a:extLst xmlns:a="http://schemas.openxmlformats.org/drawingml/2006/main">
              <a:ext uri="{FF2B5EF4-FFF2-40B4-BE49-F238E27FC236}">
                <a16:creationId xmlns:a16="http://schemas.microsoft.com/office/drawing/2014/main" id="{B785A04E-78DD-48EA-9ED6-3E6FCD76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40112"/>
            <a:ext cx="3054251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红外触发 → 夹紧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内收搬运 → 转向放置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YOLO 独立记录日志</a:t>
            </a:r>
          </a:p>
        </p:txBody>
      </p:sp>
      <p:sp>
        <p:nvSpPr>
          <p:cNvPr id="21" name="建立可复用的抓放动作">
            <a:extLst xmlns:a="http://schemas.openxmlformats.org/drawingml/2006/main">
              <a:ext uri="{FF2B5EF4-FFF2-40B4-BE49-F238E27FC236}">
                <a16:creationId xmlns:a16="http://schemas.microsoft.com/office/drawing/2014/main" id="{1A26E843-579C-4F25-A5B1-AD1227A0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40237"/>
            <a:ext cx="305425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建立可复用的抓放动作</a:t>
            </a:r>
          </a:p>
        </p:txBody>
      </p:sp>
      <p:sp>
        <p:nvSpPr>
          <p:cNvPr id="22" name="→">
            <a:extLst xmlns:a="http://schemas.openxmlformats.org/drawingml/2006/main">
              <a:ext uri="{FF2B5EF4-FFF2-40B4-BE49-F238E27FC236}">
                <a16:creationId xmlns:a16="http://schemas.microsoft.com/office/drawing/2014/main" id="{8C0C4441-6EF3-41FE-8A86-7AE46621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01" y="3464123"/>
            <a:ext cx="400050" cy="47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087C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087C7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STEP 02 · DEMO 2">
            <a:extLst xmlns:a="http://schemas.openxmlformats.org/drawingml/2006/main">
              <a:ext uri="{FF2B5EF4-FFF2-40B4-BE49-F238E27FC236}">
                <a16:creationId xmlns:a16="http://schemas.microsoft.com/office/drawing/2014/main" id="{1EAEED41-36DE-4BFB-A486-2E33CA7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2200126"/>
            <a:ext cx="305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STEP 02 · DEMO 2</a:t>
            </a:r>
          </a:p>
        </p:txBody>
      </p:sp>
      <p:sp>
        <p:nvSpPr>
          <p:cNvPr id="24" name="Align">
            <a:extLst xmlns:a="http://schemas.openxmlformats.org/drawingml/2006/main">
              <a:ext uri="{FF2B5EF4-FFF2-40B4-BE49-F238E27FC236}">
                <a16:creationId xmlns:a16="http://schemas.microsoft.com/office/drawing/2014/main" id="{23FC1BC0-72B8-4B17-B498-9F7E3B75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2447776"/>
            <a:ext cx="3054400" cy="47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Align</a:t>
            </a:r>
          </a:p>
        </p:txBody>
      </p:sp>
      <p:sp>
        <p:nvSpPr>
          <p:cNvPr id="25" name="YOLO 偏差 → 转向对准&#10;红外反馈 → 小步接近&#10;夹取内收 → 路径回位">
            <a:extLst xmlns:a="http://schemas.openxmlformats.org/drawingml/2006/main">
              <a:ext uri="{FF2B5EF4-FFF2-40B4-BE49-F238E27FC236}">
                <a16:creationId xmlns:a16="http://schemas.microsoft.com/office/drawing/2014/main" id="{AD137383-6763-45A7-B03B-42304D35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3040112"/>
            <a:ext cx="3054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YOLO 偏差 → 转向对准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红外反馈 → 小步接近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夹取内收 → 路径回位</a:t>
            </a:r>
          </a:p>
        </p:txBody>
      </p:sp>
      <p:sp>
        <p:nvSpPr>
          <p:cNvPr id="26" name="处理偏离正前方的单个目标">
            <a:extLst xmlns:a="http://schemas.openxmlformats.org/drawingml/2006/main">
              <a:ext uri="{FF2B5EF4-FFF2-40B4-BE49-F238E27FC236}">
                <a16:creationId xmlns:a16="http://schemas.microsoft.com/office/drawing/2014/main" id="{5E88E5E6-43BD-4A35-8296-1A0B5EB8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26" y="4040237"/>
            <a:ext cx="3054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处理偏离正前方的单个目标</a:t>
            </a:r>
          </a:p>
        </p:txBody>
      </p:sp>
      <p:sp>
        <p:nvSpPr>
          <p:cNvPr id="27" name="→">
            <a:extLst xmlns:a="http://schemas.openxmlformats.org/drawingml/2006/main">
              <a:ext uri="{FF2B5EF4-FFF2-40B4-BE49-F238E27FC236}">
                <a16:creationId xmlns:a16="http://schemas.microsoft.com/office/drawing/2014/main" id="{273CC2DC-374E-41C4-A09B-52F13E5E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00" y="3464123"/>
            <a:ext cx="400050" cy="47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087C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087C7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STEP 03 · 正式程序">
            <a:extLst xmlns:a="http://schemas.openxmlformats.org/drawingml/2006/main">
              <a:ext uri="{FF2B5EF4-FFF2-40B4-BE49-F238E27FC236}">
                <a16:creationId xmlns:a16="http://schemas.microsoft.com/office/drawing/2014/main" id="{2D6C331A-C9C6-436B-B410-D0EE9FED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2200126"/>
            <a:ext cx="30542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STEP 03 · 正式程序</a:t>
            </a:r>
          </a:p>
        </p:txBody>
      </p:sp>
      <p:sp>
        <p:nvSpPr>
          <p:cNvPr id="29" name="Combine">
            <a:extLst xmlns:a="http://schemas.openxmlformats.org/drawingml/2006/main">
              <a:ext uri="{FF2B5EF4-FFF2-40B4-BE49-F238E27FC236}">
                <a16:creationId xmlns:a16="http://schemas.microsoft.com/office/drawing/2014/main" id="{8924026F-1C7B-441C-B080-21F34CF0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2447776"/>
            <a:ext cx="3054251" cy="47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Combine</a:t>
            </a:r>
          </a:p>
        </p:txBody>
      </p:sp>
      <p:sp>
        <p:nvSpPr>
          <p:cNvPr id="30" name="方位状态 × 分类槽位&#10;选择最近待取方向&#10;复用对准与抓放闭环">
            <a:extLst xmlns:a="http://schemas.openxmlformats.org/drawingml/2006/main">
              <a:ext uri="{FF2B5EF4-FFF2-40B4-BE49-F238E27FC236}">
                <a16:creationId xmlns:a16="http://schemas.microsoft.com/office/drawing/2014/main" id="{53CC1573-4B7C-4C9F-8C77-408E8BEF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3040112"/>
            <a:ext cx="3054251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方位状态 × 分类槽位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选择最近待取方向</a:t>
            </a:r>
          </a:p>
          <a:p xmlns:a="http://schemas.openxmlformats.org/drawingml/2006/main">
            <a:pPr algn="l">
              <a:def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复用对准与抓放闭环</a:t>
            </a:r>
          </a:p>
        </p:txBody>
      </p:sp>
      <p:sp>
        <p:nvSpPr>
          <p:cNvPr id="31" name="球右、瓶左，每区三个位置">
            <a:extLst xmlns:a="http://schemas.openxmlformats.org/drawingml/2006/main">
              <a:ext uri="{FF2B5EF4-FFF2-40B4-BE49-F238E27FC236}">
                <a16:creationId xmlns:a16="http://schemas.microsoft.com/office/drawing/2014/main" id="{17D272F6-8634-45F9-8985-988BCB9B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125" y="4040237"/>
            <a:ext cx="305425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球右、瓶左，每区三个位置</a:t>
            </a:r>
          </a:p>
        </p:txBody>
      </p:sp>
      <p:sp>
        <p:nvSpPr>
          <p:cNvPr id="32" name="共用实机约束：ID1 外伸600 / 内收1190；ID2 先设1073后固定。放置后内收">
            <a:extLst xmlns:a="http://schemas.openxmlformats.org/drawingml/2006/main">
              <a:ext uri="{FF2B5EF4-FFF2-40B4-BE49-F238E27FC236}">
                <a16:creationId xmlns:a16="http://schemas.microsoft.com/office/drawing/2014/main" id="{E656D713-302A-427A-BF16-ABEDDD71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026"/>
            <a:ext cx="110490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共用实机约束：ID1 外伸600 / 内收1190；ID2 先设1073后固定。放置后内收，再转向搜索。</a:t>
            </a:r>
          </a:p>
        </p:txBody>
      </p:sp>
      <p:sp>
        <p:nvSpPr>
          <p:cNvPr id="33" name="单球、单瓶 demo 已实机通过；六件整轮与快速调度待实机验证。舵机数值为原始反馈单位。">
            <a:extLst xmlns:a="http://schemas.openxmlformats.org/drawingml/2006/main">
              <a:ext uri="{FF2B5EF4-FFF2-40B4-BE49-F238E27FC236}">
                <a16:creationId xmlns:a16="http://schemas.microsoft.com/office/drawing/2014/main" id="{FE288303-CBE1-4041-8126-D94D099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7264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单球、单瓶 demo 已实机通过；六件整轮与快速调度待实机验证。舵机数值为原始反馈单位。</a:t>
            </a:r>
          </a:p>
        </p:txBody>
      </p:sp>
      <p:sp>
        <p:nvSpPr>
          <p:cNvPr id="34" name="6">
            <a:extLst xmlns:a="http://schemas.openxmlformats.org/drawingml/2006/main">
              <a:ext uri="{FF2B5EF4-FFF2-40B4-BE49-F238E27FC236}">
                <a16:creationId xmlns:a16="http://schemas.microsoft.com/office/drawing/2014/main" id="{1DD34B63-C845-478F-AB20-70F7DDFE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7329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3DB5F-E27C-4025-B0B4-2F15F036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7150"/>
            <a:ext cx="10953750" cy="730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7CB71-A288-422C-ABD1-7434CE6C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2807"/>
            <a:ext cx="10953750" cy="1270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C4986-6FCA-4ABD-813C-920B84A0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8412"/>
            <a:ext cx="10953750" cy="1270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</a:ln>
        </p:spPr>
      </p:sp>
      <p:sp>
        <p:nvSpPr>
          <p:cNvPr id="4" name="核心代码：动作、闭环、调度">
            <a:extLst xmlns:a="http://schemas.openxmlformats.org/drawingml/2006/main">
              <a:ext uri="{FF2B5EF4-FFF2-40B4-BE49-F238E27FC236}">
                <a16:creationId xmlns:a16="http://schemas.microsoft.com/office/drawing/2014/main" id="{A42CFBA8-866E-44DC-BD33-139F5B03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766"/>
            <a:ext cx="10953750" cy="65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核心代码：动作、闭环、调度</a:t>
            </a:r>
          </a:p>
        </p:txBody>
      </p:sp>
      <p:sp>
        <p:nvSpPr>
          <p:cNvPr id="5" name="Pickup ir_pick_place_demo.py · 抓取与内收节选">
            <a:extLst xmlns:a="http://schemas.openxmlformats.org/drawingml/2006/main">
              <a:ext uri="{FF2B5EF4-FFF2-40B4-BE49-F238E27FC236}">
                <a16:creationId xmlns:a16="http://schemas.microsoft.com/office/drawing/2014/main" id="{5393200F-26FD-467A-AFF4-2CDE017C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6242"/>
            <a:ext cx="10953750" cy="284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Pickup </a:t>
            </a: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ir_pick_place_demo.py · 抓取与内收节选</a:t>
            </a:r>
          </a:p>
        </p:txBody>
      </p:sp>
      <p:sp>
        <p:nvSpPr>
          <p:cNvPr id="6" name="Editable code block">
            <a:extLst xmlns:a="http://schemas.openxmlformats.org/drawingml/2006/main">
              <a:ext uri="{FF2B5EF4-FFF2-40B4-BE49-F238E27FC236}">
                <a16:creationId xmlns:a16="http://schemas.microsoft.com/office/drawing/2014/main" id="{72B21951-831C-4CF6-9357-27CFF643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2400"/>
            <a:ext cx="1061085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self.gripper(False, "grasp_close")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self.move_base(self.arm["base_retracted_raw"], "carry_retract")</a:t>
            </a:r>
          </a:p>
        </p:txBody>
      </p:sp>
      <p:sp>
        <p:nvSpPr>
          <p:cNvPr id="7" name="Align yolo_align_pick_place_demo.py · 联合判定节选">
            <a:extLst xmlns:a="http://schemas.openxmlformats.org/drawingml/2006/main">
              <a:ext uri="{FF2B5EF4-FFF2-40B4-BE49-F238E27FC236}">
                <a16:creationId xmlns:a16="http://schemas.microsoft.com/office/drawing/2014/main" id="{84355E0C-E93A-44AF-AC0D-4DCA687F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899"/>
            <a:ext cx="10953750" cy="284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Align </a:t>
            </a: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yolo_align_pick_place_demo.py · 联合判定节选</a:t>
            </a:r>
          </a:p>
        </p:txBody>
      </p:sp>
      <p:sp>
        <p:nvSpPr>
          <p:cNvPr id="8" name="Editable code block">
            <a:extLst xmlns:a="http://schemas.openxmlformats.org/drawingml/2006/main">
              <a:ext uri="{FF2B5EF4-FFF2-40B4-BE49-F238E27FC236}">
                <a16:creationId xmlns:a16="http://schemas.microsoft.com/office/drawing/2014/main" id="{93EFE925-1E95-45A0-8538-52D13660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28057"/>
            <a:ext cx="10610850" cy="1079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if stable &gt;= a['stable_frames']: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    distance_state = self.infrared_state()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    if distance_state == 'ready':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        return target</a:t>
            </a:r>
          </a:p>
        </p:txBody>
      </p:sp>
      <p:sp>
        <p:nvSpPr>
          <p:cNvPr id="9" name="Combine object_sorting.py · 选方向与完成放置后的状态更新节选">
            <a:extLst xmlns:a="http://schemas.openxmlformats.org/drawingml/2006/main">
              <a:ext uri="{FF2B5EF4-FFF2-40B4-BE49-F238E27FC236}">
                <a16:creationId xmlns:a16="http://schemas.microsoft.com/office/drawing/2014/main" id="{D477B970-EAF6-4E2E-9D08-F0933F76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7504"/>
            <a:ext cx="10953750" cy="284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Combine </a:t>
            </a:r>
            <a:r>
              <a:rPr sz="172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object_sorting.py · 选方向与完成放置后的状态更新节选</a:t>
            </a:r>
          </a:p>
        </p:txBody>
      </p:sp>
      <p:sp>
        <p:nvSpPr>
          <p:cNvPr id="10" name="Editable code block">
            <a:extLst xmlns:a="http://schemas.openxmlformats.org/drawingml/2006/main">
              <a:ext uri="{FF2B5EF4-FFF2-40B4-BE49-F238E27FC236}">
                <a16:creationId xmlns:a16="http://schemas.microsoft.com/office/drawing/2014/main" id="{6C97541F-3A37-49A7-A1C4-A65B75AE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73662"/>
            <a:ext cx="10610850" cy="1079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direction = nearest_pending_direction(self.pick_directions, current_heading)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# ……完成该方位的抓取、回位、分类放置与位置检查……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counts[class_id] += 1</a:t>
            </a:r>
          </a:p>
          <a:p xmlns:a="http://schemas.openxmlformats.org/drawingml/2006/main">
            <a:pPr algn="l">
              <a:defRPr sz="1575" b="0">
                <a:solidFill>
                  <a:srgbClr val="1F2328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F2328"/>
                </a:solidFill>
                <a:latin typeface="Menlo"/>
                <a:ea typeface="Menlo"/>
                <a:cs typeface="Menlo"/>
              </a:rPr>
              <a:t>direction['status'] = 'taken'</a:t>
            </a:r>
          </a:p>
        </p:txBody>
      </p:sp>
      <p:sp>
        <p:nvSpPr>
          <p:cNvPr id="11" name="当前配置：视觉死区±4%；demo2 原始红外阈值25 mm、正式程序24 mm；正式回位">
            <a:extLst xmlns:a="http://schemas.openxmlformats.org/drawingml/2006/main">
              <a:ext uri="{FF2B5EF4-FFF2-40B4-BE49-F238E27FC236}">
                <a16:creationId xmlns:a16="http://schemas.microsoft.com/office/drawing/2014/main" id="{77F5116E-6FDD-4359-B705-671E3813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4059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当前配置：视觉死区±4%；demo2 原始红外阈值25 mm、正式程序24 mm；正式回位容差5 cm。</a:t>
            </a:r>
          </a:p>
        </p:txBody>
      </p:sp>
      <p:sp>
        <p:nvSpPr>
          <p:cNvPr id="12" name="7">
            <a:extLst xmlns:a="http://schemas.openxmlformats.org/drawingml/2006/main">
              <a:ext uri="{FF2B5EF4-FFF2-40B4-BE49-F238E27FC236}">
                <a16:creationId xmlns:a16="http://schemas.microsoft.com/office/drawing/2014/main" id="{548EC7A7-1E6A-4B81-9ABA-6424B856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0579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0A3635AE-8392-45E7-BE71-F7BBCE03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3875"/>
            <a:ext cx="2057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0" b="1">
                <a:solidFill>
                  <a:srgbClr val="272C2E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272C2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模型训练">
            <a:extLst xmlns:a="http://schemas.openxmlformats.org/drawingml/2006/main">
              <a:ext uri="{FF2B5EF4-FFF2-40B4-BE49-F238E27FC236}">
                <a16:creationId xmlns:a16="http://schemas.microsoft.com/office/drawing/2014/main" id="{471F7390-C5A3-4567-8D46-B7EB3FAD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6981"/>
            <a:ext cx="10820400" cy="1228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3" name="MODEL TRAINING">
            <a:extLst xmlns:a="http://schemas.openxmlformats.org/drawingml/2006/main">
              <a:ext uri="{FF2B5EF4-FFF2-40B4-BE49-F238E27FC236}">
                <a16:creationId xmlns:a16="http://schemas.microsoft.com/office/drawing/2014/main" id="{AB232017-7BDA-4C79-88CD-0E6137C0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7957"/>
            <a:ext cx="108204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7ACA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A7ACAE"/>
                </a:solidFill>
                <a:latin typeface="PingFang SC"/>
                <a:ea typeface="PingFang SC"/>
                <a:cs typeface="PingFang SC"/>
              </a:rPr>
              <a:t>MODEL TRAINING</a:t>
            </a:r>
          </a:p>
        </p:txBody>
      </p:sp>
      <p:sp>
        <p:nvSpPr>
          <p:cNvPr id="4" name="8">
            <a:extLst xmlns:a="http://schemas.openxmlformats.org/drawingml/2006/main">
              <a:ext uri="{FF2B5EF4-FFF2-40B4-BE49-F238E27FC236}">
                <a16:creationId xmlns:a16="http://schemas.microsoft.com/office/drawing/2014/main" id="{9CCC3354-BECB-4BCB-8691-6BB351E9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82142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4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20664E84-7571-4F23-8A90-52F7D592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3875"/>
            <a:ext cx="2057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0" b="1">
                <a:solidFill>
                  <a:srgbClr val="272C2E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272C2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仿真细节">
            <a:extLst xmlns:a="http://schemas.openxmlformats.org/drawingml/2006/main">
              <a:ext uri="{FF2B5EF4-FFF2-40B4-BE49-F238E27FC236}">
                <a16:creationId xmlns:a16="http://schemas.microsoft.com/office/drawing/2014/main" id="{9BD40FA6-C18B-4685-BD2B-6B0AB93D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6981"/>
            <a:ext cx="10820400" cy="1228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仿真细节</a:t>
            </a:r>
          </a:p>
        </p:txBody>
      </p:sp>
      <p:sp>
        <p:nvSpPr>
          <p:cNvPr id="3" name="SIMULATION">
            <a:extLst xmlns:a="http://schemas.openxmlformats.org/drawingml/2006/main">
              <a:ext uri="{FF2B5EF4-FFF2-40B4-BE49-F238E27FC236}">
                <a16:creationId xmlns:a16="http://schemas.microsoft.com/office/drawing/2014/main" id="{B61ED3D6-1968-4F91-B88A-1DFE358E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7957"/>
            <a:ext cx="108204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7ACA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A7ACAE"/>
                </a:solidFill>
                <a:latin typeface="PingFang SC"/>
                <a:ea typeface="PingFang SC"/>
                <a:cs typeface="PingFang SC"/>
              </a:rPr>
              <a:t>SIMULATION</a:t>
            </a:r>
          </a:p>
        </p:txBody>
      </p:sp>
      <p:sp>
        <p:nvSpPr>
          <p:cNvPr id="4" name="9">
            <a:extLst xmlns:a="http://schemas.openxmlformats.org/drawingml/2006/main">
              <a:ext uri="{FF2B5EF4-FFF2-40B4-BE49-F238E27FC236}">
                <a16:creationId xmlns:a16="http://schemas.microsoft.com/office/drawing/2014/main" id="{0CB41D18-EF76-415D-AE19-6B7DBAE2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375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ferences">
            <a:extLst xmlns:a="http://schemas.openxmlformats.org/drawingml/2006/main">
              <a:ext uri="{FF2B5EF4-FFF2-40B4-BE49-F238E27FC236}">
                <a16:creationId xmlns:a16="http://schemas.microsoft.com/office/drawing/2014/main" id="{C004CC37-0BEE-48CB-BFA6-E610DA53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8301"/>
            <a:ext cx="10820400" cy="928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4875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References</a:t>
            </a:r>
          </a:p>
        </p:txBody>
      </p:sp>
      <p:sp>
        <p:nvSpPr>
          <p:cNvPr id="2" name="01　RoboMaster EP 模型与 ROS 接入">
            <a:extLst xmlns:a="http://schemas.openxmlformats.org/drawingml/2006/main">
              <a:ext uri="{FF2B5EF4-FFF2-40B4-BE49-F238E27FC236}">
                <a16:creationId xmlns:a16="http://schemas.microsoft.com/office/drawing/2014/main" id="{9E85B551-1848-4997-A9E9-20A20874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9888"/>
            <a:ext cx="10820400" cy="47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01　RoboMaster EP 模型与 ROS 接入</a:t>
            </a:r>
          </a:p>
        </p:txBody>
      </p:sp>
      <p:sp>
        <p:nvSpPr>
          <p:cNvPr id="3" name="jeguzzi / robomaster_ros">
            <a:extLst xmlns:a="http://schemas.openxmlformats.org/drawingml/2006/main">
              <a:ext uri="{FF2B5EF4-FFF2-40B4-BE49-F238E27FC236}">
                <a16:creationId xmlns:a16="http://schemas.microsoft.com/office/drawing/2014/main" id="{172903AB-986E-44C4-A058-A9C26F7D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6569"/>
            <a:ext cx="108204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6171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8535b6845f646fe"/>
              </a:rPr>
              <a:t>jeguzzi / robomaster_ros</a:t>
            </a:r>
          </a:p>
        </p:txBody>
      </p:sp>
      <p:sp>
        <p:nvSpPr>
          <p:cNvPr id="4" name="EP 仿真所参考的机器人模型与 ROS 2 接入资源。">
            <a:extLst xmlns:a="http://schemas.openxmlformats.org/drawingml/2006/main">
              <a:ext uri="{FF2B5EF4-FFF2-40B4-BE49-F238E27FC236}">
                <a16:creationId xmlns:a16="http://schemas.microsoft.com/office/drawing/2014/main" id="{30DE94A5-8723-4C84-A6B4-F0A63435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2356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EP 仿真所参考的机器人模型与 ROS 2 接入资源。</a:t>
            </a:r>
          </a:p>
        </p:txBody>
      </p:sp>
      <p:sp>
        <p:nvSpPr>
          <p:cNvPr id="5" name="02　Ultralytics YOLO 官方文档">
            <a:extLst xmlns:a="http://schemas.openxmlformats.org/drawingml/2006/main">
              <a:ext uri="{FF2B5EF4-FFF2-40B4-BE49-F238E27FC236}">
                <a16:creationId xmlns:a16="http://schemas.microsoft.com/office/drawing/2014/main" id="{17194A7A-E0FE-40D5-8E13-8D42C004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1481"/>
            <a:ext cx="10820400" cy="47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1719"/>
                </a:solidFill>
                <a:latin typeface="PingFang SC"/>
                <a:ea typeface="PingFang SC"/>
                <a:cs typeface="PingFang SC"/>
              </a:rPr>
              <a:t>02　Ultralytics YOLO 官方文档</a:t>
            </a:r>
          </a:p>
        </p:txBody>
      </p:sp>
      <p:sp>
        <p:nvSpPr>
          <p:cNvPr id="6" name="docs.ultralytics.com/models/yolo26/">
            <a:extLst xmlns:a="http://schemas.openxmlformats.org/drawingml/2006/main">
              <a:ext uri="{FF2B5EF4-FFF2-40B4-BE49-F238E27FC236}">
                <a16:creationId xmlns:a16="http://schemas.microsoft.com/office/drawing/2014/main" id="{E3146A8F-7FA0-4113-B28D-85B6AD04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8162"/>
            <a:ext cx="108204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1719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61719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b700f2af2b849d8"/>
              </a:rPr>
              <a:t>docs.ultralytics.com/models/yolo26/</a:t>
            </a:r>
          </a:p>
        </p:txBody>
      </p:sp>
      <p:sp>
        <p:nvSpPr>
          <p:cNvPr id="7" name="当前实机默认使用普通官方 yolo26m.pt。">
            <a:extLst xmlns:a="http://schemas.openxmlformats.org/drawingml/2006/main">
              <a:ext uri="{FF2B5EF4-FFF2-40B4-BE49-F238E27FC236}">
                <a16:creationId xmlns:a16="http://schemas.microsoft.com/office/drawing/2014/main" id="{3891D68B-F01C-43A5-A17D-23B5340D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3949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1767A"/>
                </a:solidFill>
                <a:latin typeface="PingFang SC"/>
                <a:ea typeface="PingFang SC"/>
                <a:cs typeface="PingFang SC"/>
              </a:rPr>
              <a:t>当前实机默认使用普通官方 yolo26m.pt。</a:t>
            </a:r>
          </a:p>
        </p:txBody>
      </p:sp>
      <p:sp>
        <p:nvSpPr>
          <p:cNvPr id="8" name="10">
            <a:extLst xmlns:a="http://schemas.openxmlformats.org/drawingml/2006/main">
              <a:ext uri="{FF2B5EF4-FFF2-40B4-BE49-F238E27FC236}">
                <a16:creationId xmlns:a16="http://schemas.microsoft.com/office/drawing/2014/main" id="{D3D90E52-AA18-4F4F-99CB-126F8A55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5888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2634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2026-09-18T20:49:30.5450000Z</dcterms:created>
  <dcterms:modified xsi:type="dcterms:W3CDTF">2026-09-18T20:49:30.5450000Z</dcterms:modified>
</coreProperties>
</file>