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4w8EcjjWih17YtrD3vkvSZzNB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41929C-0E64-4D25-A1DE-7EA5D35D9DE6}">
  <a:tblStyle styleId="{9841929C-0E64-4D25-A1DE-7EA5D35D9D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Marp 源稿：presentation/marp-editable/slides.md。文字、代码、表格和导图采用可编辑原生对象。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References: https://github.com/jeguzzi/robomaster_ros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https://docs.ultralytics.com/models/yolo26/</a:t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jeguzzi/robomaster_ros" TargetMode="External"/><Relationship Id="rId4" Type="http://schemas.openxmlformats.org/officeDocument/2006/relationships/hyperlink" Target="https://docs.ultralytics.com/models/yolo2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76529"/>
            <a:ext cx="4876800" cy="650494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85800" y="1868239"/>
            <a:ext cx="59436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RoboMaster EP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视觉分拣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" y="3847356"/>
            <a:ext cx="5943600" cy="42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57C8B9"/>
                </a:solidFill>
                <a:latin typeface="Arial"/>
                <a:ea typeface="Arial"/>
                <a:cs typeface="Arial"/>
                <a:sym typeface="Arial"/>
              </a:rPr>
              <a:t>Jetson × YOLO26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4608761"/>
            <a:ext cx="594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85800" y="1152525"/>
            <a:ext cx="10820400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小组分工</a:t>
            </a:r>
            <a:endParaRPr/>
          </a:p>
        </p:txBody>
      </p:sp>
      <p:graphicFrame>
        <p:nvGraphicFramePr>
          <p:cNvPr id="27" name="Google Shape;27;p2"/>
          <p:cNvGraphicFramePr/>
          <p:nvPr/>
        </p:nvGraphicFramePr>
        <p:xfrm>
          <a:off x="685800" y="22953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{9841929C-0E64-4D25-A1DE-7EA5D35D9DE6}</a:tableStyleId>
              </a:tblPr>
              <a:tblGrid>
                <a:gridCol w="5405450"/>
                <a:gridCol w="5405450"/>
              </a:tblGrid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1" lang="en-US" sz="2250" u="none" cap="none" strike="noStrike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成员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1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负责内容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许轩烨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总监、实机程序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占钟灵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仿真、程序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于瀚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模型、程序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公昕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仿真、程序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袁梓涵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1719"/>
                        </a:buClr>
                        <a:buSzPts val="2250"/>
                        <a:buFont typeface="Arial"/>
                        <a:buNone/>
                      </a:pPr>
                      <a:r>
                        <a:rPr b="0" lang="en-US" sz="2250">
                          <a:solidFill>
                            <a:srgbClr val="16171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场地搭建、PPT 制作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28" name="Google Shape;28;p2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3"/>
          <p:cNvCxnSpPr/>
          <p:nvPr/>
        </p:nvCxnSpPr>
        <p:spPr>
          <a:xfrm>
            <a:off x="685800" y="3547914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C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3"/>
          <p:cNvCxnSpPr/>
          <p:nvPr/>
        </p:nvCxnSpPr>
        <p:spPr>
          <a:xfrm>
            <a:off x="685800" y="4343251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C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685800" y="5138589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CD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3"/>
          <p:cNvCxnSpPr/>
          <p:nvPr/>
        </p:nvCxnSpPr>
        <p:spPr>
          <a:xfrm>
            <a:off x="685800" y="5933926"/>
            <a:ext cx="10820400" cy="0"/>
          </a:xfrm>
          <a:prstGeom prst="straightConnector1">
            <a:avLst/>
          </a:prstGeom>
          <a:noFill/>
          <a:ln cap="flat" cmpd="sng" w="9525">
            <a:solidFill>
              <a:srgbClr val="D7DC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685800" y="923925"/>
            <a:ext cx="10820400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01　总览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85800" y="2066776"/>
            <a:ext cx="10820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9615F"/>
                </a:solidFill>
                <a:latin typeface="Arial"/>
                <a:ea typeface="Arial"/>
                <a:cs typeface="Arial"/>
                <a:sym typeface="Arial"/>
              </a:rPr>
              <a:t>从视觉识别到实际分拣，建立完整任务流程。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85800" y="2924026"/>
            <a:ext cx="71437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92999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590675" y="2938760"/>
            <a:ext cx="2000250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总览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781425" y="2938760"/>
            <a:ext cx="7724775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任务目标、设备连接与系统分工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85800" y="3719364"/>
            <a:ext cx="71437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92999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590675" y="3734098"/>
            <a:ext cx="2000250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实机细节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781425" y="3734098"/>
            <a:ext cx="7724775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Pickup → Align → Combine</a:t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685800" y="4514701"/>
            <a:ext cx="71437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92999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590675" y="4529435"/>
            <a:ext cx="2000250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模型训练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781425" y="4529435"/>
            <a:ext cx="7724775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保留章节背景，后续补充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85800" y="5310039"/>
            <a:ext cx="71437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92999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590675" y="5324773"/>
            <a:ext cx="2000250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仿真细节</a:t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781425" y="5324773"/>
            <a:ext cx="7724775" cy="413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保留章节背景，后续补充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9871" y="0"/>
            <a:ext cx="514149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685800" y="1449139"/>
            <a:ext cx="5577780" cy="671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85800" y="1912428"/>
            <a:ext cx="55779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围绕小车摆放 3 个</a:t>
            </a:r>
            <a:r>
              <a:rPr b="1" lang="en-US" sz="2525">
                <a:solidFill>
                  <a:srgbClr val="161719"/>
                </a:solidFill>
              </a:rPr>
              <a:t>网球</a:t>
            </a:r>
            <a:r>
              <a:rPr b="0" lang="en-US" sz="25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、3 个</a:t>
            </a:r>
            <a:r>
              <a:rPr b="1" lang="en-US" sz="2525">
                <a:solidFill>
                  <a:srgbClr val="161719"/>
                </a:solidFill>
              </a:rPr>
              <a:t>水瓶</a:t>
            </a:r>
            <a:r>
              <a:rPr b="0" lang="en-US" sz="25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3125"/>
          </a:p>
        </p:txBody>
      </p:sp>
      <p:sp>
        <p:nvSpPr>
          <p:cNvPr id="61" name="Google Shape;61;p4"/>
          <p:cNvSpPr/>
          <p:nvPr/>
        </p:nvSpPr>
        <p:spPr>
          <a:xfrm>
            <a:off x="685800" y="2976265"/>
            <a:ext cx="5577780" cy="398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相对小车启动朝向：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257300" y="3508177"/>
            <a:ext cx="5006280" cy="398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• 右侧区域放球。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257300" y="4040088"/>
            <a:ext cx="5006280" cy="398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• 左侧区域放瓶子。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257300" y="4572000"/>
            <a:ext cx="5006280" cy="398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• 每区固定 三个角度放置位。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85800" y="5122962"/>
            <a:ext cx="55777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Google Shape;72;p5"/>
          <p:cNvCxnSpPr/>
          <p:nvPr/>
        </p:nvCxnSpPr>
        <p:spPr>
          <a:xfrm>
            <a:off x="685800" y="2313236"/>
            <a:ext cx="3029694" cy="0"/>
          </a:xfrm>
          <a:prstGeom prst="straightConnector1">
            <a:avLst/>
          </a:prstGeom>
          <a:noFill/>
          <a:ln cap="flat" cmpd="sng" w="19050">
            <a:solidFill>
              <a:srgbClr val="087C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5"/>
          <p:cNvCxnSpPr/>
          <p:nvPr/>
        </p:nvCxnSpPr>
        <p:spPr>
          <a:xfrm>
            <a:off x="4581227" y="2313236"/>
            <a:ext cx="3029694" cy="0"/>
          </a:xfrm>
          <a:prstGeom prst="straightConnector1">
            <a:avLst/>
          </a:prstGeom>
          <a:noFill/>
          <a:ln cap="flat" cmpd="sng" w="19050">
            <a:solidFill>
              <a:srgbClr val="087C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5"/>
          <p:cNvCxnSpPr/>
          <p:nvPr/>
        </p:nvCxnSpPr>
        <p:spPr>
          <a:xfrm>
            <a:off x="8476506" y="2313236"/>
            <a:ext cx="3029694" cy="0"/>
          </a:xfrm>
          <a:prstGeom prst="straightConnector1">
            <a:avLst/>
          </a:prstGeom>
          <a:noFill/>
          <a:ln cap="flat" cmpd="sng" w="19050">
            <a:solidFill>
              <a:srgbClr val="087C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685800" y="1132284"/>
            <a:ext cx="10820400" cy="799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开发与控制连接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85800" y="2541836"/>
            <a:ext cx="3029694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MacBook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85800" y="3143250"/>
            <a:ext cx="3029694" cy="119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代码开发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SSH：远程终端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VNC：屏幕共享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967311" y="3102769"/>
            <a:ext cx="361950" cy="560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>
                <a:solidFill>
                  <a:srgbClr val="087C7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81227" y="2541836"/>
            <a:ext cx="3029694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Jetson OrinX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581227" y="3143250"/>
            <a:ext cx="3029694" cy="119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Python 主程序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YOLO 图像推理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任务与动作控制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862739" y="3102769"/>
            <a:ext cx="361950" cy="560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>
                <a:solidFill>
                  <a:srgbClr val="087C7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476506" y="2541836"/>
            <a:ext cx="3029694" cy="487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7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RoboMaster EP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476506" y="3143250"/>
            <a:ext cx="3029694" cy="119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相机、红外反馈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底盘移动与转向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机械臂、夹爪执行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933650" y="2746200"/>
            <a:ext cx="13521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59615F"/>
                </a:solidFill>
                <a:latin typeface="Arial"/>
                <a:ea typeface="Arial"/>
                <a:cs typeface="Arial"/>
                <a:sym typeface="Arial"/>
              </a:rPr>
              <a:t>Wi-Fi / SDK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6"/>
          <p:cNvCxnSpPr/>
          <p:nvPr/>
        </p:nvCxnSpPr>
        <p:spPr>
          <a:xfrm>
            <a:off x="571500" y="2019151"/>
            <a:ext cx="3416201" cy="0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6"/>
          <p:cNvCxnSpPr/>
          <p:nvPr/>
        </p:nvCxnSpPr>
        <p:spPr>
          <a:xfrm>
            <a:off x="3987701" y="2019151"/>
            <a:ext cx="0" cy="3362325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6"/>
          <p:cNvCxnSpPr/>
          <p:nvPr/>
        </p:nvCxnSpPr>
        <p:spPr>
          <a:xfrm>
            <a:off x="571500" y="5381476"/>
            <a:ext cx="3416201" cy="0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6"/>
          <p:cNvCxnSpPr/>
          <p:nvPr/>
        </p:nvCxnSpPr>
        <p:spPr>
          <a:xfrm>
            <a:off x="571500" y="2019151"/>
            <a:ext cx="0" cy="3362325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6"/>
          <p:cNvCxnSpPr/>
          <p:nvPr/>
        </p:nvCxnSpPr>
        <p:spPr>
          <a:xfrm>
            <a:off x="752475" y="4040237"/>
            <a:ext cx="3054251" cy="0"/>
          </a:xfrm>
          <a:prstGeom prst="straightConnector1">
            <a:avLst/>
          </a:prstGeom>
          <a:noFill/>
          <a:ln cap="flat" cmpd="sng" w="9525">
            <a:solidFill>
              <a:srgbClr val="CBD2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6"/>
          <p:cNvCxnSpPr/>
          <p:nvPr/>
        </p:nvCxnSpPr>
        <p:spPr>
          <a:xfrm>
            <a:off x="4387751" y="2019151"/>
            <a:ext cx="3416350" cy="0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6"/>
          <p:cNvCxnSpPr/>
          <p:nvPr/>
        </p:nvCxnSpPr>
        <p:spPr>
          <a:xfrm>
            <a:off x="7804100" y="2019151"/>
            <a:ext cx="0" cy="3362325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6"/>
          <p:cNvCxnSpPr/>
          <p:nvPr/>
        </p:nvCxnSpPr>
        <p:spPr>
          <a:xfrm>
            <a:off x="4387751" y="5381476"/>
            <a:ext cx="3416350" cy="0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6"/>
          <p:cNvCxnSpPr/>
          <p:nvPr/>
        </p:nvCxnSpPr>
        <p:spPr>
          <a:xfrm>
            <a:off x="4387751" y="2019151"/>
            <a:ext cx="0" cy="3362325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6"/>
          <p:cNvCxnSpPr/>
          <p:nvPr/>
        </p:nvCxnSpPr>
        <p:spPr>
          <a:xfrm>
            <a:off x="4568726" y="4040237"/>
            <a:ext cx="3054400" cy="0"/>
          </a:xfrm>
          <a:prstGeom prst="straightConnector1">
            <a:avLst/>
          </a:prstGeom>
          <a:noFill/>
          <a:ln cap="flat" cmpd="sng" w="9525">
            <a:solidFill>
              <a:srgbClr val="CBD2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6"/>
          <p:cNvCxnSpPr/>
          <p:nvPr/>
        </p:nvCxnSpPr>
        <p:spPr>
          <a:xfrm>
            <a:off x="8204150" y="2019151"/>
            <a:ext cx="3416201" cy="0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6"/>
          <p:cNvCxnSpPr/>
          <p:nvPr/>
        </p:nvCxnSpPr>
        <p:spPr>
          <a:xfrm>
            <a:off x="11620351" y="2019151"/>
            <a:ext cx="0" cy="3362325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6"/>
          <p:cNvCxnSpPr/>
          <p:nvPr/>
        </p:nvCxnSpPr>
        <p:spPr>
          <a:xfrm>
            <a:off x="8204150" y="5381476"/>
            <a:ext cx="3416201" cy="0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6"/>
          <p:cNvCxnSpPr/>
          <p:nvPr/>
        </p:nvCxnSpPr>
        <p:spPr>
          <a:xfrm>
            <a:off x="8204150" y="2019151"/>
            <a:ext cx="0" cy="3362325"/>
          </a:xfrm>
          <a:prstGeom prst="straightConnector1">
            <a:avLst/>
          </a:prstGeom>
          <a:noFill/>
          <a:ln cap="flat" cmpd="sng" w="9525">
            <a:solidFill>
              <a:srgbClr val="87918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6"/>
          <p:cNvCxnSpPr/>
          <p:nvPr/>
        </p:nvCxnSpPr>
        <p:spPr>
          <a:xfrm>
            <a:off x="8385125" y="4040237"/>
            <a:ext cx="3054251" cy="0"/>
          </a:xfrm>
          <a:prstGeom prst="straightConnector1">
            <a:avLst/>
          </a:prstGeom>
          <a:noFill/>
          <a:ln cap="flat" cmpd="sng" w="9525">
            <a:solidFill>
              <a:srgbClr val="CBD2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6"/>
          <p:cNvSpPr/>
          <p:nvPr/>
        </p:nvSpPr>
        <p:spPr>
          <a:xfrm>
            <a:off x="571500" y="633413"/>
            <a:ext cx="11049000" cy="685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02　实机细节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71500" y="1452414"/>
            <a:ext cx="110490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9615F"/>
                </a:solidFill>
                <a:latin typeface="Arial"/>
                <a:ea typeface="Arial"/>
                <a:cs typeface="Arial"/>
                <a:sym typeface="Arial"/>
              </a:rPr>
              <a:t>Pickup → Align → Combine：从动作验证到自主分拣</a:t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52475" y="2200126"/>
            <a:ext cx="305425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1767A"/>
                </a:solidFill>
                <a:latin typeface="Arial"/>
                <a:ea typeface="Arial"/>
                <a:cs typeface="Arial"/>
                <a:sym typeface="Arial"/>
              </a:rPr>
              <a:t>STEP 01 · DEMO 1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52475" y="2447776"/>
            <a:ext cx="3054251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Pickup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52475" y="3040112"/>
            <a:ext cx="305425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红外触发 → 夹紧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内收搬运 → 转向放置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YOLO 独立记录日志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52475" y="4040237"/>
            <a:ext cx="305425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建立可复用的抓放动作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987701" y="3464123"/>
            <a:ext cx="4000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87C7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68726" y="2200126"/>
            <a:ext cx="3054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1767A"/>
                </a:solidFill>
                <a:latin typeface="Arial"/>
                <a:ea typeface="Arial"/>
                <a:cs typeface="Arial"/>
                <a:sym typeface="Arial"/>
              </a:rPr>
              <a:t>STEP 02 · DEMO 2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68726" y="2447776"/>
            <a:ext cx="3054400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Align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68726" y="3040112"/>
            <a:ext cx="3054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YOLO 偏差 → 转向对准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红外反馈 → 小步接近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夹取内收 → 路径回位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68726" y="4040237"/>
            <a:ext cx="3054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处理偏离正前方的单个目标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804100" y="3464123"/>
            <a:ext cx="4000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87C7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385125" y="2200126"/>
            <a:ext cx="305425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1767A"/>
                </a:solidFill>
                <a:latin typeface="Arial"/>
                <a:ea typeface="Arial"/>
                <a:cs typeface="Arial"/>
                <a:sym typeface="Arial"/>
              </a:rPr>
              <a:t>STEP 03 · 正式程序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8385125" y="2447776"/>
            <a:ext cx="3054251" cy="47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Combine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385125" y="3040112"/>
            <a:ext cx="305425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方位状态 × 分类槽位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选择最近待取方向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复用对准与抓放闭环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385125" y="4040237"/>
            <a:ext cx="305425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球右、瓶左，每区三个位置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571500" y="5591026"/>
            <a:ext cx="110490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共用实机约束：ID1 外伸600 / 内收1190；ID2 先设1073后固定。放置后内收，再转向搜索。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619125" y="1727150"/>
            <a:ext cx="10953750" cy="730448"/>
          </a:xfrm>
          <a:prstGeom prst="rect">
            <a:avLst/>
          </a:prstGeom>
          <a:solidFill>
            <a:srgbClr val="EDF0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19125" y="2932807"/>
            <a:ext cx="10953750" cy="1270397"/>
          </a:xfrm>
          <a:prstGeom prst="rect">
            <a:avLst/>
          </a:prstGeom>
          <a:solidFill>
            <a:srgbClr val="EDF0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19125" y="4678412"/>
            <a:ext cx="10953750" cy="1270397"/>
          </a:xfrm>
          <a:prstGeom prst="rect">
            <a:avLst/>
          </a:prstGeom>
          <a:solidFill>
            <a:srgbClr val="EDF0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19125" y="556766"/>
            <a:ext cx="10953750" cy="657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核心代码：动作、闭环、调度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19125" y="1366242"/>
            <a:ext cx="10953750" cy="284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Pickup ir_pick_place_demo.py · 抓取与内收节选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90575" y="1822400"/>
            <a:ext cx="10610850" cy="539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self.gripper(False, "grasp_close")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self.move_base(self.arm["base_retracted_raw"], "carry_retract")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19125" y="2571899"/>
            <a:ext cx="10953750" cy="284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Align yolo_align_pick_place_demo.py · 联合判定节选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790575" y="3028057"/>
            <a:ext cx="10610850" cy="107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if stable &gt;= a['stable_frames']: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    distance_state = self.infrared_state()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    if distance_state == 'ready':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        return target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19125" y="4317504"/>
            <a:ext cx="10953750" cy="284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Combine object_sorting.py · 选方向与完成放置后的状态更新节选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90575" y="4773662"/>
            <a:ext cx="10610850" cy="107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direction = nearest_pending_direction(self.pick_directions, current_heading)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# ……完成该方位的抓取、回位、分类放置与位置检查……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counts[class_id] +=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direction['status'] = 'taken'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8858250" y="523875"/>
            <a:ext cx="28575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0">
                <a:solidFill>
                  <a:srgbClr val="272C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85800" y="2516981"/>
            <a:ext cx="10820400" cy="122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模型训练</a:t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685800" y="3897957"/>
            <a:ext cx="108204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A7ACAE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6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8858250" y="523875"/>
            <a:ext cx="28575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0">
                <a:solidFill>
                  <a:srgbClr val="272C2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85800" y="2516981"/>
            <a:ext cx="10820400" cy="122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仿真细节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85800" y="3897957"/>
            <a:ext cx="108204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A7ACAE"/>
                </a:solidFill>
                <a:latin typeface="Arial"/>
                <a:ea typeface="Arial"/>
                <a:cs typeface="Arial"/>
                <a:sym typeface="Arial"/>
              </a:rPr>
              <a:t>SIMULATION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685800" y="1168301"/>
            <a:ext cx="108204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75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685800" y="2439888"/>
            <a:ext cx="10820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01　RoboMaster EP 模型与 ROS 接入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685800" y="3026569"/>
            <a:ext cx="108204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 u="sng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jeguzzi / robomaster_ros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685800" y="3612356"/>
            <a:ext cx="10820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1767A"/>
                </a:solidFill>
                <a:latin typeface="Arial"/>
                <a:ea typeface="Arial"/>
                <a:cs typeface="Arial"/>
                <a:sym typeface="Arial"/>
              </a:rPr>
              <a:t>EP 仿真所参考的机器人模型与 ROS 2 接入资源。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685800" y="4231481"/>
            <a:ext cx="108204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</a:rPr>
              <a:t>02　Ultralytics YOLO 官方文档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685800" y="4818162"/>
            <a:ext cx="108204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 u="sng">
                <a:solidFill>
                  <a:srgbClr val="16171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docs.ultralytics.com/models/yolo26/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685800" y="5403949"/>
            <a:ext cx="10820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1767A"/>
                </a:solidFill>
                <a:latin typeface="Arial"/>
                <a:ea typeface="Arial"/>
                <a:cs typeface="Arial"/>
                <a:sym typeface="Arial"/>
              </a:rPr>
              <a:t>当前实机默认使用普通官方 yolo26m.pt。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11430000" y="6381750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85888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