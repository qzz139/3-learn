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73efa34f349fb" /><Relationship Type="http://schemas.openxmlformats.org/officeDocument/2006/relationships/extended-properties" Target="/docProps/app.xml" Id="Rf5593ffdade44728" /><Relationship Type="http://schemas.openxmlformats.org/officeDocument/2006/relationships/officeDocument" Target="/ppt/presentation.xml" Id="R6396e9f67b57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e40744e3b47ba"/>
  </p:sldMasterIdLst>
  <p:notesMasterIdLst>
    <p:notesMasterId xmlns:r="http://schemas.openxmlformats.org/officeDocument/2006/relationships" r:id="Rf4d5331d1e3d4f18"/>
  </p:notesMasterIdLst>
  <p:sldIdLst>
    <p:sldId xmlns:r="http://schemas.openxmlformats.org/officeDocument/2006/relationships" id="256" r:id="R762daf8e86b84017"/>
    <p:sldId xmlns:r="http://schemas.openxmlformats.org/officeDocument/2006/relationships" id="257" r:id="Ra261ba1444c24862"/>
    <p:sldId xmlns:r="http://schemas.openxmlformats.org/officeDocument/2006/relationships" id="258" r:id="Reaf433e7fda84e9a"/>
    <p:sldId xmlns:r="http://schemas.openxmlformats.org/officeDocument/2006/relationships" id="259" r:id="Rfce1fdd1c40a4372"/>
    <p:sldId xmlns:r="http://schemas.openxmlformats.org/officeDocument/2006/relationships" id="260" r:id="Re1c35ab1c40b4abc"/>
    <p:sldId xmlns:r="http://schemas.openxmlformats.org/officeDocument/2006/relationships" id="261" r:id="R7f81ce609c624500"/>
    <p:sldId xmlns:r="http://schemas.openxmlformats.org/officeDocument/2006/relationships" id="262" r:id="Rae5aed0b579e4227"/>
    <p:sldId xmlns:r="http://schemas.openxmlformats.org/officeDocument/2006/relationships" id="263" r:id="Rae04e5fea09447b5"/>
    <p:sldId xmlns:r="http://schemas.openxmlformats.org/officeDocument/2006/relationships" id="264" r:id="R3d66e50c49104e2d"/>
    <p:sldId xmlns:r="http://schemas.openxmlformats.org/officeDocument/2006/relationships" id="265" r:id="R908e4d5c2cdc45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658f0e93f4a5a" /><Relationship Type="http://schemas.openxmlformats.org/officeDocument/2006/relationships/slideMaster" Target="/ppt/slideMasters/slideMaster1.xml" Id="Rd0be40744e3b47ba" /><Relationship Type="http://schemas.openxmlformats.org/officeDocument/2006/relationships/notesMaster" Target="/ppt/notesMasters/notesMaster1.xml" Id="Rf4d5331d1e3d4f18" /><Relationship Type="http://schemas.openxmlformats.org/officeDocument/2006/relationships/presProps" Target="/ppt/presProps.xml" Id="R9fd908b525dc4cc7" /><Relationship Type="http://schemas.openxmlformats.org/officeDocument/2006/relationships/tableStyles" Target="/ppt/tableStyles.xml" Id="R7f61add81bcc4e95" /><Relationship Type="http://schemas.openxmlformats.org/officeDocument/2006/relationships/slide" Target="/ppt/slides/slide1.xml" Id="R762daf8e86b84017" /><Relationship Type="http://schemas.openxmlformats.org/officeDocument/2006/relationships/slide" Target="/ppt/slides/slide2.xml" Id="Ra261ba1444c24862" /><Relationship Type="http://schemas.openxmlformats.org/officeDocument/2006/relationships/slide" Target="/ppt/slides/slide3.xml" Id="Reaf433e7fda84e9a" /><Relationship Type="http://schemas.openxmlformats.org/officeDocument/2006/relationships/slide" Target="/ppt/slides/slide4.xml" Id="Rfce1fdd1c40a4372" /><Relationship Type="http://schemas.openxmlformats.org/officeDocument/2006/relationships/slide" Target="/ppt/slides/slide5.xml" Id="Re1c35ab1c40b4abc" /><Relationship Type="http://schemas.openxmlformats.org/officeDocument/2006/relationships/slide" Target="/ppt/slides/slide6.xml" Id="R7f81ce609c624500" /><Relationship Type="http://schemas.openxmlformats.org/officeDocument/2006/relationships/slide" Target="/ppt/slides/slide7.xml" Id="Rae5aed0b579e4227" /><Relationship Type="http://schemas.openxmlformats.org/officeDocument/2006/relationships/slide" Target="/ppt/slides/slide8.xml" Id="Rae04e5fea09447b5" /><Relationship Type="http://schemas.openxmlformats.org/officeDocument/2006/relationships/slide" Target="/ppt/slides/slide9.xml" Id="R3d66e50c49104e2d" /><Relationship Type="http://schemas.openxmlformats.org/officeDocument/2006/relationships/slide" Target="/ppt/slides/slide10.xml" Id="R908e4d5c2cdc45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9894bc30045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5356d768b4789" /><Relationship Type="http://schemas.openxmlformats.org/officeDocument/2006/relationships/notesMaster" Target="/ppt/notesMasters/notesMaster1.xml" Id="R00866021d4aa4c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f1b4844af4c34" /><Relationship Type="http://schemas.openxmlformats.org/officeDocument/2006/relationships/notesMaster" Target="/ppt/notesMasters/notesMaster1.xml" Id="R3fef26f16eb2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4ccec141fd41fa" /><Relationship Type="http://schemas.openxmlformats.org/officeDocument/2006/relationships/notesMaster" Target="/ppt/notesMasters/notesMaster1.xml" Id="Ra2ba50cf6e704d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c739cce2243dc" /><Relationship Type="http://schemas.openxmlformats.org/officeDocument/2006/relationships/notesMaster" Target="/ppt/notesMasters/notesMaster1.xml" Id="R317630b7859e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61a852c4240b9" /><Relationship Type="http://schemas.openxmlformats.org/officeDocument/2006/relationships/notesMaster" Target="/ppt/notesMasters/notesMaster1.xml" Id="R80a60011042845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1b6a780b74fab" /><Relationship Type="http://schemas.openxmlformats.org/officeDocument/2006/relationships/notesMaster" Target="/ppt/notesMasters/notesMaster1.xml" Id="Rc6a005b57c144d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8b055f73c44f1b" /><Relationship Type="http://schemas.openxmlformats.org/officeDocument/2006/relationships/notesMaster" Target="/ppt/notesMasters/notesMaster1.xml" Id="R19a11dbefe9948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169da8809243ed" /><Relationship Type="http://schemas.openxmlformats.org/officeDocument/2006/relationships/notesMaster" Target="/ppt/notesMasters/notesMaster1.xml" Id="R51387c502d3e44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6123b9727a4cb4" /><Relationship Type="http://schemas.openxmlformats.org/officeDocument/2006/relationships/notesMaster" Target="/ppt/notesMasters/notesMaster1.xml" Id="Refc18458d98d49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ec30bfaa63410c" /><Relationship Type="http://schemas.openxmlformats.org/officeDocument/2006/relationships/notesMaster" Target="/ppt/notesMasters/notesMaster1.xml" Id="R16ca25242de44d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  <a:p xmlns:a="http://schemas.openxmlformats.org/drawingml/2006/main">
            <a:r>
              <a:t>References: https://github.com/jeguzzi/robomaster_ros</a:t>
            </a:r>
          </a:p>
          <a:p xmlns:a="http://schemas.openxmlformats.org/drawingml/2006/main">
            <a:r>
              <a:t>https://docs.ultralytics.com/models/yolo26/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d3c295a63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cf967da6a4441" /><Relationship Type="http://schemas.openxmlformats.org/officeDocument/2006/relationships/slideLayout" Target="/ppt/slideLayouts/slideLayout1.xml" Id="R5387eb0570fb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7eb0570fb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411d62534e0c" /><Relationship Type="http://schemas.openxmlformats.org/officeDocument/2006/relationships/image" Target="/ppt/media/image.jpeg" Id="R23898aaf4d6f4a10" /><Relationship Type="http://schemas.openxmlformats.org/officeDocument/2006/relationships/notesSlide" Target="/ppt/notesSlides/notesSlide1.xml" Id="R038b28a79e70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790c9b5ca4598" /><Relationship Type="http://schemas.openxmlformats.org/officeDocument/2006/relationships/notesSlide" Target="/ppt/notesSlides/notesSlide2.xml" Id="Rb86205455b5b40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4324cf3874615" /><Relationship Type="http://schemas.openxmlformats.org/officeDocument/2006/relationships/notesSlide" Target="/ppt/notesSlides/notesSlide3.xml" Id="Ra4dabf622d33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4f30c2f6b4280" /><Relationship Type="http://schemas.openxmlformats.org/officeDocument/2006/relationships/image" Target="/ppt/media/image2.jpeg" Id="R167622da316f4722" /><Relationship Type="http://schemas.openxmlformats.org/officeDocument/2006/relationships/notesSlide" Target="/ppt/notesSlides/notesSlide4.xml" Id="R68c2ba19ba8e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289797a4c47ee" /><Relationship Type="http://schemas.openxmlformats.org/officeDocument/2006/relationships/notesSlide" Target="/ppt/notesSlides/notesSlide5.xml" Id="R5038878c342341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b7292386b4ac9" /><Relationship Type="http://schemas.openxmlformats.org/officeDocument/2006/relationships/notesSlide" Target="/ppt/notesSlides/notesSlide6.xml" Id="R83c0479e4c134a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f27d2b65b48a6" /><Relationship Type="http://schemas.openxmlformats.org/officeDocument/2006/relationships/notesSlide" Target="/ppt/notesSlides/notesSlide7.xml" Id="R853b5b0740cb43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3e684edbc466c" /><Relationship Type="http://schemas.openxmlformats.org/officeDocument/2006/relationships/notesSlide" Target="/ppt/notesSlides/notesSlide8.xml" Id="R579e618bcb064e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233fe2e4468d" /><Relationship Type="http://schemas.openxmlformats.org/officeDocument/2006/relationships/notesSlide" Target="/ppt/notesSlides/notesSlide9.xml" Id="Rdaf8a61bead043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e234132344a5d" /><Relationship Type="http://schemas.openxmlformats.org/officeDocument/2006/relationships/hyperlink" Target="https://github.com/jeguzzi/robomaster_ros" TargetMode="External" Id="R1dc9539bca4e49e7" /><Relationship Type="http://schemas.openxmlformats.org/officeDocument/2006/relationships/hyperlink" Target="https://docs.ultralytics.com/models/yolo26/" TargetMode="External" Id="Rac1230e2bb2541c9" /><Relationship Type="http://schemas.openxmlformats.org/officeDocument/2006/relationships/notesSlide" Target="/ppt/notesSlides/notesSlide10.xml" Id="R77d338af91e54d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98aaf4d6f4a10"/>
          <a:stretch xmlns:a="http://schemas.openxmlformats.org/drawingml/2006/main"/>
        </p:blipFill>
        <p:spPr>
          <a:xfrm xmlns:a="http://schemas.openxmlformats.org/drawingml/2006/main">
            <a:off x="7315200" y="176529"/>
            <a:ext cx="4876800" cy="6504942"/>
          </a:xfrm>
          <a:prstGeom xmlns:a="http://schemas.openxmlformats.org/drawingml/2006/main" prst="rect">
            <a:avLst/>
          </a:prstGeom>
        </p:spPr>
      </p:pic>
      <p:sp>
        <p:nvSpPr>
          <p:cNvPr id="2" name="RoboMaster EP&#10;视觉分拣">
            <a:extLst xmlns:a="http://schemas.openxmlformats.org/drawingml/2006/main">
              <a:ext uri="{FF2B5EF4-FFF2-40B4-BE49-F238E27FC236}">
                <a16:creationId xmlns:a16="http://schemas.microsoft.com/office/drawing/2014/main" id="{CCB5754F-1C59-4672-9BAB-EE793762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8239"/>
            <a:ext cx="5943600" cy="1645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RoboMaster EP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视觉分拣</a:t>
            </a:r>
          </a:p>
        </p:txBody>
      </p:sp>
      <p:sp>
        <p:nvSpPr>
          <p:cNvPr id="3" name="Jetson × YOLO26">
            <a:extLst xmlns:a="http://schemas.openxmlformats.org/drawingml/2006/main">
              <a:ext uri="{FF2B5EF4-FFF2-40B4-BE49-F238E27FC236}">
                <a16:creationId xmlns:a16="http://schemas.microsoft.com/office/drawing/2014/main" id="{98DE6B7A-259F-4582-AF37-DCD3F4FF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7356"/>
            <a:ext cx="5943600" cy="428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7C8B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57C8B9"/>
                </a:solidFill>
                <a:latin typeface="PingFang SC"/>
                <a:ea typeface="PingFang SC"/>
                <a:cs typeface="PingFang SC"/>
              </a:rPr>
              <a:t>Jetson × YOLO26</a:t>
            </a:r>
          </a:p>
        </p:txBody>
      </p:sp>
      <p:sp>
        <p:nvSpPr>
          <p:cNvPr id="4" name="网球与水瓶的自主识别、接近、抓取与分类放置">
            <a:extLst xmlns:a="http://schemas.openxmlformats.org/drawingml/2006/main">
              <a:ext uri="{FF2B5EF4-FFF2-40B4-BE49-F238E27FC236}">
                <a16:creationId xmlns:a16="http://schemas.microsoft.com/office/drawing/2014/main" id="{9197C97E-569A-4E37-9583-3A9DD366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8761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1C6C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1C6C4"/>
                </a:solidFill>
                <a:latin typeface="PingFang SC"/>
                <a:ea typeface="PingFang SC"/>
                <a:cs typeface="PingFang SC"/>
              </a:rPr>
              <a:t>网球与水瓶的自主识别、接近、抓取与分类放置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629E830D-530E-437C-9254-69C6E50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2170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小组分工">
            <a:extLst xmlns:a="http://schemas.openxmlformats.org/drawingml/2006/main">
              <a:ext uri="{FF2B5EF4-FFF2-40B4-BE49-F238E27FC236}">
                <a16:creationId xmlns:a16="http://schemas.microsoft.com/office/drawing/2014/main" id="{F413061D-7828-44D2-B95E-D72B76C1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小组分工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2295376"/>
          <a:ext xmlns:a="http://schemas.openxmlformats.org/drawingml/2006/main" cx="108204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05438"/>
                <a:gridCol w="5405438"/>
              </a:tblGrid>
              <a:tr h="566738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负责内容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许轩烨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总监、实机程序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占钟灵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仿真、程序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于瀚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公昕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仿真、程序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袁梓涵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场地搭建、PPT 制作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517CC276-D33B-4ECA-ABCD-3431806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1824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95EFB-AF02-4EB9-B6BD-8D8D84C8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791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5B254-D446-4DD8-B8E3-77FBD33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25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234A0-62E1-4CF3-8F76-D345EE2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58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4895F-8295-47DC-9949-DDD34E5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392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01　总览">
            <a:extLst xmlns:a="http://schemas.openxmlformats.org/drawingml/2006/main">
              <a:ext uri="{FF2B5EF4-FFF2-40B4-BE49-F238E27FC236}">
                <a16:creationId xmlns:a16="http://schemas.microsoft.com/office/drawing/2014/main" id="{23C3C22A-05C7-462A-A5FD-1E73438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01　总览</a:t>
            </a:r>
          </a:p>
        </p:txBody>
      </p:sp>
      <p:sp>
        <p:nvSpPr>
          <p:cNvPr id="6" name="从视觉识别到实际分拣，建立完整任务流程。">
            <a:extLst xmlns:a="http://schemas.openxmlformats.org/drawingml/2006/main">
              <a:ext uri="{FF2B5EF4-FFF2-40B4-BE49-F238E27FC236}">
                <a16:creationId xmlns:a16="http://schemas.microsoft.com/office/drawing/2014/main" id="{E8CD0F3B-A1B2-4340-87D2-2A8E10DD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776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从视觉识别到实际分拣，建立完整任务流程。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4E8079C-7AD6-425E-B411-B587E89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026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总览">
            <a:extLst xmlns:a="http://schemas.openxmlformats.org/drawingml/2006/main">
              <a:ext uri="{FF2B5EF4-FFF2-40B4-BE49-F238E27FC236}">
                <a16:creationId xmlns:a16="http://schemas.microsoft.com/office/drawing/2014/main" id="{7F492D56-707E-4792-BA20-9C9F1F48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38760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总览</a:t>
            </a:r>
          </a:p>
        </p:txBody>
      </p:sp>
      <p:sp>
        <p:nvSpPr>
          <p:cNvPr id="9" name="任务目标、设备连接与系统分工">
            <a:extLst xmlns:a="http://schemas.openxmlformats.org/drawingml/2006/main">
              <a:ext uri="{FF2B5EF4-FFF2-40B4-BE49-F238E27FC236}">
                <a16:creationId xmlns:a16="http://schemas.microsoft.com/office/drawing/2014/main" id="{250D2AA7-0FFB-47DB-98A8-6B775E96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8760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任务目标、设备连接与系统分工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0DD99390-03A8-41E5-B33D-6AA743E8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9364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实机细节">
            <a:extLst xmlns:a="http://schemas.openxmlformats.org/drawingml/2006/main">
              <a:ext uri="{FF2B5EF4-FFF2-40B4-BE49-F238E27FC236}">
                <a16:creationId xmlns:a16="http://schemas.microsoft.com/office/drawing/2014/main" id="{62016C1B-8C05-4ABA-9344-F85E6818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734098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实机细节</a:t>
            </a:r>
          </a:p>
        </p:txBody>
      </p:sp>
      <p:sp>
        <p:nvSpPr>
          <p:cNvPr id="12" name="Pickup → Align → Combine">
            <a:extLst xmlns:a="http://schemas.openxmlformats.org/drawingml/2006/main">
              <a:ext uri="{FF2B5EF4-FFF2-40B4-BE49-F238E27FC236}">
                <a16:creationId xmlns:a16="http://schemas.microsoft.com/office/drawing/2014/main" id="{9DF2030A-1938-49ED-92F0-00B3D45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34098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 → Align → Combine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E8E19DDC-4276-4EF4-A4C1-8158A0A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701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模型训练">
            <a:extLst xmlns:a="http://schemas.openxmlformats.org/drawingml/2006/main">
              <a:ext uri="{FF2B5EF4-FFF2-40B4-BE49-F238E27FC236}">
                <a16:creationId xmlns:a16="http://schemas.microsoft.com/office/drawing/2014/main" id="{347E4D1A-2ADE-4401-8233-7AF4AA5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29435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5" name="保留章节背景，后续补充">
            <a:extLst xmlns:a="http://schemas.openxmlformats.org/drawingml/2006/main">
              <a:ext uri="{FF2B5EF4-FFF2-40B4-BE49-F238E27FC236}">
                <a16:creationId xmlns:a16="http://schemas.microsoft.com/office/drawing/2014/main" id="{A360CA66-45F8-4F10-8EA9-B8AB8E4B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29435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保留章节背景，后续补充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E6B71751-0720-4050-82C6-DF92277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0039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仿真细节">
            <a:extLst xmlns:a="http://schemas.openxmlformats.org/drawingml/2006/main">
              <a:ext uri="{FF2B5EF4-FFF2-40B4-BE49-F238E27FC236}">
                <a16:creationId xmlns:a16="http://schemas.microsoft.com/office/drawing/2014/main" id="{7C881BC6-DE33-4133-9C22-BEC017B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324773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仿真细节</a:t>
            </a:r>
          </a:p>
        </p:txBody>
      </p:sp>
      <p:sp>
        <p:nvSpPr>
          <p:cNvPr id="18" name="保留章节背景，后续补充">
            <a:extLst xmlns:a="http://schemas.openxmlformats.org/drawingml/2006/main">
              <a:ext uri="{FF2B5EF4-FFF2-40B4-BE49-F238E27FC236}">
                <a16:creationId xmlns:a16="http://schemas.microsoft.com/office/drawing/2014/main" id="{7CD304F5-0EE3-49A7-BEA5-230A826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324773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保留章节背景，后续补充</a:t>
            </a:r>
          </a:p>
        </p:txBody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0F117C83-9E40-4F9B-B688-19A81B87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4838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622da316f4722"/>
          <a:stretch xmlns:a="http://schemas.openxmlformats.org/drawingml/2006/main"/>
        </p:blipFill>
        <p:spPr>
          <a:xfrm xmlns:a="http://schemas.openxmlformats.org/drawingml/2006/main">
            <a:off x="6999871" y="0"/>
            <a:ext cx="51414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两类物品，六个目标">
            <a:extLst xmlns:a="http://schemas.openxmlformats.org/drawingml/2006/main">
              <a:ext uri="{FF2B5EF4-FFF2-40B4-BE49-F238E27FC236}">
                <a16:creationId xmlns:a16="http://schemas.microsoft.com/office/drawing/2014/main" id="{60B70EBE-8806-483F-ADA4-0CC969D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9139"/>
            <a:ext cx="5577780" cy="671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两类物品，六个目标</a:t>
            </a:r>
          </a:p>
        </p:txBody>
      </p:sp>
      <p:sp>
        <p:nvSpPr>
          <p:cNvPr id="3" name="围绕小车摆放 3 个网球、3 个水瓶。">
            <a:extLst xmlns:a="http://schemas.openxmlformats.org/drawingml/2006/main">
              <a:ext uri="{FF2B5EF4-FFF2-40B4-BE49-F238E27FC236}">
                <a16:creationId xmlns:a16="http://schemas.microsoft.com/office/drawing/2014/main" id="{694609EC-612A-4675-AE88-93658652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3403"/>
            <a:ext cx="55777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围绕小车摆放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3 个网球、3 个水瓶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4" name="相对小车启动朝向：">
            <a:extLst xmlns:a="http://schemas.openxmlformats.org/drawingml/2006/main">
              <a:ext uri="{FF2B5EF4-FFF2-40B4-BE49-F238E27FC236}">
                <a16:creationId xmlns:a16="http://schemas.microsoft.com/office/drawing/2014/main" id="{4FCBF3D9-65F1-458C-9F3B-C97FB12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6265"/>
            <a:ext cx="55777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相对小车启动朝向：</a:t>
            </a:r>
          </a:p>
        </p:txBody>
      </p:sp>
      <p:sp>
        <p:nvSpPr>
          <p:cNvPr id="5" name="右侧区域放球。">
            <a:extLst xmlns:a="http://schemas.openxmlformats.org/drawingml/2006/main">
              <a:ext uri="{FF2B5EF4-FFF2-40B4-BE49-F238E27FC236}">
                <a16:creationId xmlns:a16="http://schemas.microsoft.com/office/drawing/2014/main" id="{234432A0-0F01-4A13-A5A4-3D4EF0B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8177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右侧区域放球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左侧区域放瓶子。">
            <a:extLst xmlns:a="http://schemas.openxmlformats.org/drawingml/2006/main">
              <a:ext uri="{FF2B5EF4-FFF2-40B4-BE49-F238E27FC236}">
                <a16:creationId xmlns:a16="http://schemas.microsoft.com/office/drawing/2014/main" id="{6C8CDF44-D095-42A3-9368-D8E971E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0088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左侧区域放瓶子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每区固定 三个角度放置位。">
            <a:extLst xmlns:a="http://schemas.openxmlformats.org/drawingml/2006/main">
              <a:ext uri="{FF2B5EF4-FFF2-40B4-BE49-F238E27FC236}">
                <a16:creationId xmlns:a16="http://schemas.microsoft.com/office/drawing/2014/main" id="{9BFCAED0-E356-4249-B5FD-ADCCD9F1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每区固定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三个角度放置位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照片为实物布局；左右由小车启动朝向定义。">
            <a:extLst xmlns:a="http://schemas.openxmlformats.org/drawingml/2006/main">
              <a:ext uri="{FF2B5EF4-FFF2-40B4-BE49-F238E27FC236}">
                <a16:creationId xmlns:a16="http://schemas.microsoft.com/office/drawing/2014/main" id="{608740B4-28DD-4019-9A46-9103B2F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2962"/>
            <a:ext cx="55777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照片为实物布局；左右由小车启动朝向定义。</a:t>
            </a:r>
          </a:p>
        </p:txBody>
      </p:sp>
      <p:sp>
        <p:nvSpPr>
          <p:cNvPr id="9" name="4">
            <a:extLst xmlns:a="http://schemas.openxmlformats.org/drawingml/2006/main">
              <a:ext uri="{FF2B5EF4-FFF2-40B4-BE49-F238E27FC236}">
                <a16:creationId xmlns:a16="http://schemas.microsoft.com/office/drawing/2014/main" id="{B1A8B8BF-EF44-4CAA-A6E0-D0811C1F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2995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371AE-16AC-42B9-8085-0A227DF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B2FFF-5667-437B-BC72-CF29F64B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239B8-F04A-40D4-814B-14086CED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4" name="开发与控制连接">
            <a:extLst xmlns:a="http://schemas.openxmlformats.org/drawingml/2006/main">
              <a:ext uri="{FF2B5EF4-FFF2-40B4-BE49-F238E27FC236}">
                <a16:creationId xmlns:a16="http://schemas.microsoft.com/office/drawing/2014/main" id="{9560F1DE-7A9F-4D80-91DC-C35ACA6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2284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开发与控制连接</a:t>
            </a:r>
          </a:p>
        </p:txBody>
      </p:sp>
      <p:sp>
        <p:nvSpPr>
          <p:cNvPr id="5" name="MacBook">
            <a:extLst xmlns:a="http://schemas.openxmlformats.org/drawingml/2006/main">
              <a:ext uri="{FF2B5EF4-FFF2-40B4-BE49-F238E27FC236}">
                <a16:creationId xmlns:a16="http://schemas.microsoft.com/office/drawing/2014/main" id="{0126993A-A610-46CD-9122-13B05E42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MacBook</a:t>
            </a:r>
          </a:p>
        </p:txBody>
      </p:sp>
      <p:sp>
        <p:nvSpPr>
          <p:cNvPr id="6" name="代码开发&#10;SSH：远程终端&#10;VNC：屏幕共享">
            <a:extLst xmlns:a="http://schemas.openxmlformats.org/drawingml/2006/main">
              <a:ext uri="{FF2B5EF4-FFF2-40B4-BE49-F238E27FC236}">
                <a16:creationId xmlns:a16="http://schemas.microsoft.com/office/drawing/2014/main" id="{150760C5-F18D-4534-B17B-9CB750BD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代码开发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SSH：远程终端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VNC：屏幕共享</a:t>
            </a:r>
          </a:p>
        </p:txBody>
      </p:sp>
      <p:sp>
        <p:nvSpPr>
          <p:cNvPr id="7" name="→">
            <a:extLst xmlns:a="http://schemas.openxmlformats.org/drawingml/2006/main">
              <a:ext uri="{FF2B5EF4-FFF2-40B4-BE49-F238E27FC236}">
                <a16:creationId xmlns:a16="http://schemas.microsoft.com/office/drawing/2014/main" id="{C434960A-B504-4180-BF36-56FD056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311" y="3102769"/>
            <a:ext cx="361950" cy="56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Jetson OrinX">
            <a:extLst xmlns:a="http://schemas.openxmlformats.org/drawingml/2006/main">
              <a:ext uri="{FF2B5EF4-FFF2-40B4-BE49-F238E27FC236}">
                <a16:creationId xmlns:a16="http://schemas.microsoft.com/office/drawing/2014/main" id="{BA05AD11-C021-460A-8702-DDAD820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Jetson OrinX</a:t>
            </a:r>
          </a:p>
        </p:txBody>
      </p:sp>
      <p:sp>
        <p:nvSpPr>
          <p:cNvPr id="9" name="Python 主程序&#10;YOLO 图像推理&#10;任务与动作控制">
            <a:extLst xmlns:a="http://schemas.openxmlformats.org/drawingml/2006/main">
              <a:ext uri="{FF2B5EF4-FFF2-40B4-BE49-F238E27FC236}">
                <a16:creationId xmlns:a16="http://schemas.microsoft.com/office/drawing/2014/main" id="{135B4D91-314F-44F1-BF28-FA8B6C2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Python 主程序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图像推理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任务与动作控制</a:t>
            </a:r>
          </a:p>
        </p:txBody>
      </p:sp>
      <p:sp>
        <p:nvSpPr>
          <p:cNvPr id="10" name="→">
            <a:extLst xmlns:a="http://schemas.openxmlformats.org/drawingml/2006/main">
              <a:ext uri="{FF2B5EF4-FFF2-40B4-BE49-F238E27FC236}">
                <a16:creationId xmlns:a16="http://schemas.microsoft.com/office/drawing/2014/main" id="{621E2156-CA20-4E96-9ADE-34D35806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739" y="3102769"/>
            <a:ext cx="361950" cy="56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RoboMaster EP">
            <a:extLst xmlns:a="http://schemas.openxmlformats.org/drawingml/2006/main">
              <a:ext uri="{FF2B5EF4-FFF2-40B4-BE49-F238E27FC236}">
                <a16:creationId xmlns:a16="http://schemas.microsoft.com/office/drawing/2014/main" id="{192E02F0-00EF-4119-859A-8EBF3A1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RoboMaster EP</a:t>
            </a:r>
          </a:p>
        </p:txBody>
      </p:sp>
      <p:sp>
        <p:nvSpPr>
          <p:cNvPr id="12" name="相机、红外反馈&#10;底盘移动与转向&#10;机械臂、夹爪执行">
            <a:extLst xmlns:a="http://schemas.openxmlformats.org/drawingml/2006/main">
              <a:ext uri="{FF2B5EF4-FFF2-40B4-BE49-F238E27FC236}">
                <a16:creationId xmlns:a16="http://schemas.microsoft.com/office/drawing/2014/main" id="{704A6CDF-EAAC-4076-8C42-8D4B4BEC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相机、红外反馈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底盘移动与转向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机械臂、夹爪执行</a:t>
            </a:r>
          </a:p>
        </p:txBody>
      </p:sp>
      <p:sp>
        <p:nvSpPr>
          <p:cNvPr id="13" name="SSH / VNC　MacBook 远程控制 Jetson&#10;Wi-Fi / SDK　Jet">
            <a:extLst xmlns:a="http://schemas.openxmlformats.org/drawingml/2006/main">
              <a:ext uri="{FF2B5EF4-FFF2-40B4-BE49-F238E27FC236}">
                <a16:creationId xmlns:a16="http://schemas.microsoft.com/office/drawing/2014/main" id="{71747BF9-8A40-4DC1-964C-EBA625A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4235"/>
            <a:ext cx="10820400" cy="89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SSH / VNC</a:t>
            </a: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　MacBook 远程控制 Jetson</a:t>
            </a:r>
          </a:p>
          <a:p xmlns:a="http://schemas.openxmlformats.org/drawingml/2006/main">
            <a:pPr algn="l">
              <a:def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Wi-Fi / SDK</a:t>
            </a: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　Jetson 连接 EP，传递图像、反馈与动作</a:t>
            </a:r>
          </a:p>
        </p:txBody>
      </p:sp>
      <p:sp>
        <p:nvSpPr>
          <p:cNvPr id="14" name="5">
            <a:extLst xmlns:a="http://schemas.openxmlformats.org/drawingml/2006/main">
              <a:ext uri="{FF2B5EF4-FFF2-40B4-BE49-F238E27FC236}">
                <a16:creationId xmlns:a16="http://schemas.microsoft.com/office/drawing/2014/main" id="{3AAAF42C-0D5C-46DC-BF58-153559F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130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CB9EE-0278-44DC-9DEF-DD67F70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151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B9BDF-031C-46D1-8B63-D1002951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0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CCE7A-2038-4FDC-96FF-A49E2C9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476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FDE23-AAE2-4162-92CB-7B66E9F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B02E-5D60-47BA-BEB0-5C09BAE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0237"/>
            <a:ext cx="30542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7BDC7-AF04-4EF9-A479-BA1BD202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2019151"/>
            <a:ext cx="341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98F2-7394-4479-B34B-D9D828BB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0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38BDE-C6BA-4E49-88BC-3F156776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5381476"/>
            <a:ext cx="341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3A2A4-9166-4142-835B-109A2892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A8D72-F472-4B9C-B25F-08DE5213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4040237"/>
            <a:ext cx="30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A1ABB-B366-4661-AC68-6D5177C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2019151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B0104-C378-4965-96D3-8861479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35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EA518-D53E-4AE2-90FA-6628460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5381476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D4E0C-66E1-4607-A2B3-A2B5B39C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7ED6B-9E84-476B-9C89-C3EEC37D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4040237"/>
            <a:ext cx="30542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16" name="02　实机细节">
            <a:extLst xmlns:a="http://schemas.openxmlformats.org/drawingml/2006/main">
              <a:ext uri="{FF2B5EF4-FFF2-40B4-BE49-F238E27FC236}">
                <a16:creationId xmlns:a16="http://schemas.microsoft.com/office/drawing/2014/main" id="{38A2C542-35C3-4479-B2D7-50B7FFCD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3"/>
            <a:ext cx="11049000" cy="68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02　实机细节</a:t>
            </a:r>
          </a:p>
        </p:txBody>
      </p:sp>
      <p:sp>
        <p:nvSpPr>
          <p:cNvPr id="17" name="Pickup → Align → Combine：从动作验证到自主分拣">
            <a:extLst xmlns:a="http://schemas.openxmlformats.org/drawingml/2006/main">
              <a:ext uri="{FF2B5EF4-FFF2-40B4-BE49-F238E27FC236}">
                <a16:creationId xmlns:a16="http://schemas.microsoft.com/office/drawing/2014/main" id="{E1983ABF-C1D5-4686-BCD3-7817E33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2414"/>
            <a:ext cx="11049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Pickup → Align → Combine：从动作验证到自主分拣</a:t>
            </a:r>
          </a:p>
        </p:txBody>
      </p:sp>
      <p:sp>
        <p:nvSpPr>
          <p:cNvPr id="18" name="STEP 01 · DEMO 1">
            <a:extLst xmlns:a="http://schemas.openxmlformats.org/drawingml/2006/main">
              <a:ext uri="{FF2B5EF4-FFF2-40B4-BE49-F238E27FC236}">
                <a16:creationId xmlns:a16="http://schemas.microsoft.com/office/drawing/2014/main" id="{4D1554EB-F848-40F1-9BDE-BF3422B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126"/>
            <a:ext cx="30542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01 · DEMO 1</a:t>
            </a:r>
          </a:p>
        </p:txBody>
      </p:sp>
      <p:sp>
        <p:nvSpPr>
          <p:cNvPr id="19" name="Pickup">
            <a:extLst xmlns:a="http://schemas.openxmlformats.org/drawingml/2006/main">
              <a:ext uri="{FF2B5EF4-FFF2-40B4-BE49-F238E27FC236}">
                <a16:creationId xmlns:a16="http://schemas.microsoft.com/office/drawing/2014/main" id="{EDF8DE49-5E95-4A19-A1D6-A67F11A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776"/>
            <a:ext cx="3054251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</a:t>
            </a:r>
          </a:p>
        </p:txBody>
      </p:sp>
      <p:sp>
        <p:nvSpPr>
          <p:cNvPr id="20" name="红外触发 → 夹紧&#10;内收搬运 → 转向放置&#10;YOLO 独立记录日志">
            <a:extLst xmlns:a="http://schemas.openxmlformats.org/drawingml/2006/main">
              <a:ext uri="{FF2B5EF4-FFF2-40B4-BE49-F238E27FC236}">
                <a16:creationId xmlns:a16="http://schemas.microsoft.com/office/drawing/2014/main" id="{6D094728-27D0-4782-9BEF-D919611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40112"/>
            <a:ext cx="3054251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红外触发 → 夹紧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内收搬运 → 转向放置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独立记录日志</a:t>
            </a:r>
          </a:p>
        </p:txBody>
      </p:sp>
      <p:sp>
        <p:nvSpPr>
          <p:cNvPr id="21" name="建立可复用的抓放动作">
            <a:extLst xmlns:a="http://schemas.openxmlformats.org/drawingml/2006/main">
              <a:ext uri="{FF2B5EF4-FFF2-40B4-BE49-F238E27FC236}">
                <a16:creationId xmlns:a16="http://schemas.microsoft.com/office/drawing/2014/main" id="{6AD5482A-DEA8-46CA-AC1A-57EA2659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0237"/>
            <a:ext cx="30542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建立可复用的抓放动作</a:t>
            </a:r>
          </a:p>
        </p:txBody>
      </p:sp>
      <p:sp>
        <p:nvSpPr>
          <p:cNvPr id="22" name="→">
            <a:extLst xmlns:a="http://schemas.openxmlformats.org/drawingml/2006/main">
              <a:ext uri="{FF2B5EF4-FFF2-40B4-BE49-F238E27FC236}">
                <a16:creationId xmlns:a16="http://schemas.microsoft.com/office/drawing/2014/main" id="{4B4C0B80-E74E-42EE-9233-1D8F02E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01" y="3464123"/>
            <a:ext cx="40005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STEP 02 · DEMO 2">
            <a:extLst xmlns:a="http://schemas.openxmlformats.org/drawingml/2006/main">
              <a:ext uri="{FF2B5EF4-FFF2-40B4-BE49-F238E27FC236}">
                <a16:creationId xmlns:a16="http://schemas.microsoft.com/office/drawing/2014/main" id="{DB65AC05-B56E-40BF-834A-7868928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2200126"/>
            <a:ext cx="305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02 · DEMO 2</a:t>
            </a:r>
          </a:p>
        </p:txBody>
      </p:sp>
      <p:sp>
        <p:nvSpPr>
          <p:cNvPr id="24" name="Align">
            <a:extLst xmlns:a="http://schemas.openxmlformats.org/drawingml/2006/main">
              <a:ext uri="{FF2B5EF4-FFF2-40B4-BE49-F238E27FC236}">
                <a16:creationId xmlns:a16="http://schemas.microsoft.com/office/drawing/2014/main" id="{D282E504-5BE5-4A22-A9C3-6852B30B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2447776"/>
            <a:ext cx="3054400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Align</a:t>
            </a:r>
          </a:p>
        </p:txBody>
      </p:sp>
      <p:sp>
        <p:nvSpPr>
          <p:cNvPr id="25" name="YOLO 偏差 → 转向对准&#10;红外反馈 → 小步接近&#10;夹取内收 → 路径回位">
            <a:extLst xmlns:a="http://schemas.openxmlformats.org/drawingml/2006/main">
              <a:ext uri="{FF2B5EF4-FFF2-40B4-BE49-F238E27FC236}">
                <a16:creationId xmlns:a16="http://schemas.microsoft.com/office/drawing/2014/main" id="{F5413274-C9B5-4461-99C9-DA7E4C0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3040112"/>
            <a:ext cx="305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偏差 → 转向对准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红外反馈 → 小步接近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夹取内收 → 路径回位</a:t>
            </a:r>
          </a:p>
        </p:txBody>
      </p:sp>
      <p:sp>
        <p:nvSpPr>
          <p:cNvPr id="26" name="处理偏离正前方的单个目标">
            <a:extLst xmlns:a="http://schemas.openxmlformats.org/drawingml/2006/main">
              <a:ext uri="{FF2B5EF4-FFF2-40B4-BE49-F238E27FC236}">
                <a16:creationId xmlns:a16="http://schemas.microsoft.com/office/drawing/2014/main" id="{F4CC7DA9-6A8F-469C-9765-CEDDE667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4040237"/>
            <a:ext cx="3054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处理偏离正前方的单个目标</a:t>
            </a:r>
          </a:p>
        </p:txBody>
      </p:sp>
      <p:sp>
        <p:nvSpPr>
          <p:cNvPr id="27" name="→">
            <a:extLst xmlns:a="http://schemas.openxmlformats.org/drawingml/2006/main">
              <a:ext uri="{FF2B5EF4-FFF2-40B4-BE49-F238E27FC236}">
                <a16:creationId xmlns:a16="http://schemas.microsoft.com/office/drawing/2014/main" id="{5927870F-DEA1-4FB8-B945-FF66ADB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00" y="3464123"/>
            <a:ext cx="40005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STEP 03 · 正式程序">
            <a:extLst xmlns:a="http://schemas.openxmlformats.org/drawingml/2006/main">
              <a:ext uri="{FF2B5EF4-FFF2-40B4-BE49-F238E27FC236}">
                <a16:creationId xmlns:a16="http://schemas.microsoft.com/office/drawing/2014/main" id="{7050F3F3-21C6-443A-BF22-B38A330A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2200126"/>
            <a:ext cx="30542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03 · 正式程序</a:t>
            </a:r>
          </a:p>
        </p:txBody>
      </p:sp>
      <p:sp>
        <p:nvSpPr>
          <p:cNvPr id="29" name="Combine">
            <a:extLst xmlns:a="http://schemas.openxmlformats.org/drawingml/2006/main">
              <a:ext uri="{FF2B5EF4-FFF2-40B4-BE49-F238E27FC236}">
                <a16:creationId xmlns:a16="http://schemas.microsoft.com/office/drawing/2014/main" id="{0065C9B7-42FE-49C2-8841-40EA6CF2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2447776"/>
            <a:ext cx="3054251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Combine</a:t>
            </a:r>
          </a:p>
        </p:txBody>
      </p:sp>
      <p:sp>
        <p:nvSpPr>
          <p:cNvPr id="30" name="方位状态 × 分类槽位&#10;选择最近待取方向&#10;复用对准与抓放闭环">
            <a:extLst xmlns:a="http://schemas.openxmlformats.org/drawingml/2006/main">
              <a:ext uri="{FF2B5EF4-FFF2-40B4-BE49-F238E27FC236}">
                <a16:creationId xmlns:a16="http://schemas.microsoft.com/office/drawing/2014/main" id="{CDC5BA0A-540F-47F6-A19A-D05DF65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3040112"/>
            <a:ext cx="3054251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方位状态 × 分类槽位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选择最近待取方向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复用对准与抓放闭环</a:t>
            </a:r>
          </a:p>
        </p:txBody>
      </p:sp>
      <p:sp>
        <p:nvSpPr>
          <p:cNvPr id="31" name="球右、瓶左，每区三个位置">
            <a:extLst xmlns:a="http://schemas.openxmlformats.org/drawingml/2006/main">
              <a:ext uri="{FF2B5EF4-FFF2-40B4-BE49-F238E27FC236}">
                <a16:creationId xmlns:a16="http://schemas.microsoft.com/office/drawing/2014/main" id="{9E6C7031-F232-45A3-BCDF-9E21001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4040237"/>
            <a:ext cx="30542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球右、瓶左，每区三个位置</a:t>
            </a:r>
          </a:p>
        </p:txBody>
      </p:sp>
      <p:sp>
        <p:nvSpPr>
          <p:cNvPr id="32" name="共用实机约束：ID1 外伸600 / 内收1190；ID2 先设1073后固定。放置后内收">
            <a:extLst xmlns:a="http://schemas.openxmlformats.org/drawingml/2006/main">
              <a:ext uri="{FF2B5EF4-FFF2-40B4-BE49-F238E27FC236}">
                <a16:creationId xmlns:a16="http://schemas.microsoft.com/office/drawing/2014/main" id="{AA6DB747-C8F9-4AB2-9205-C86ECE0F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026"/>
            <a:ext cx="110490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共用实机约束：ID1 外伸600 / 内收1190；ID2 先设1073后固定。放置后内收，再转向搜索。</a:t>
            </a:r>
          </a:p>
        </p:txBody>
      </p:sp>
      <p:sp>
        <p:nvSpPr>
          <p:cNvPr id="33" name="单球、单瓶 demo 已实机通过；六件整轮与快速调度待实机验证。舵机数值为原始反馈单位。">
            <a:extLst xmlns:a="http://schemas.openxmlformats.org/drawingml/2006/main">
              <a:ext uri="{FF2B5EF4-FFF2-40B4-BE49-F238E27FC236}">
                <a16:creationId xmlns:a16="http://schemas.microsoft.com/office/drawing/2014/main" id="{73DEF738-3C71-4033-A766-66D879DB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7264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单球、单瓶 demo 已实机通过；六件整轮与快速调度待实机验证。舵机数值为原始反馈单位。</a:t>
            </a:r>
          </a:p>
        </p:txBody>
      </p:sp>
      <p:sp>
        <p:nvSpPr>
          <p:cNvPr id="34" name="6">
            <a:extLst xmlns:a="http://schemas.openxmlformats.org/drawingml/2006/main">
              <a:ext uri="{FF2B5EF4-FFF2-40B4-BE49-F238E27FC236}">
                <a16:creationId xmlns:a16="http://schemas.microsoft.com/office/drawing/2014/main" id="{2791213E-FD95-4098-9495-8F69ED8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63244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9E881-34B4-4D79-A0A7-2A0F6A3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7150"/>
            <a:ext cx="10953750" cy="730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E9B7F-985F-4AB1-B7D7-8638730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2807"/>
            <a:ext cx="10953750" cy="127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6B06-64D6-49BC-AE08-82C3312C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8412"/>
            <a:ext cx="10953750" cy="127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4" name="核心代码：动作、闭环、调度">
            <a:extLst xmlns:a="http://schemas.openxmlformats.org/drawingml/2006/main">
              <a:ext uri="{FF2B5EF4-FFF2-40B4-BE49-F238E27FC236}">
                <a16:creationId xmlns:a16="http://schemas.microsoft.com/office/drawing/2014/main" id="{53E6BE24-81C1-4C62-8FC0-11DE43F0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766"/>
            <a:ext cx="10953750" cy="65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核心代码：动作、闭环、调度</a:t>
            </a:r>
          </a:p>
        </p:txBody>
      </p:sp>
      <p:sp>
        <p:nvSpPr>
          <p:cNvPr id="5" name="Pickup ir_pick_place_demo.py · 抓取与内收节选">
            <a:extLst xmlns:a="http://schemas.openxmlformats.org/drawingml/2006/main">
              <a:ext uri="{FF2B5EF4-FFF2-40B4-BE49-F238E27FC236}">
                <a16:creationId xmlns:a16="http://schemas.microsoft.com/office/drawing/2014/main" id="{F4E53966-3F80-4CB1-A520-BE62A5CD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6242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ir_pick_place_demo.py · 抓取与内收节选</a:t>
            </a:r>
          </a:p>
        </p:txBody>
      </p:sp>
      <p:sp>
        <p:nvSpPr>
          <p:cNvPr id="6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28E0DF96-6657-4165-BB0A-637CF8F3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2400"/>
            <a:ext cx="1061085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self.gripper(False, "grasp_close")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self.move_base(self.arm["base_retracted_raw"], "carry_retract")</a:t>
            </a:r>
          </a:p>
        </p:txBody>
      </p:sp>
      <p:sp>
        <p:nvSpPr>
          <p:cNvPr id="7" name="Align yolo_align_pick_place_demo.py · 联合判定节选">
            <a:extLst xmlns:a="http://schemas.openxmlformats.org/drawingml/2006/main">
              <a:ext uri="{FF2B5EF4-FFF2-40B4-BE49-F238E27FC236}">
                <a16:creationId xmlns:a16="http://schemas.microsoft.com/office/drawing/2014/main" id="{B9677F68-CAF5-4A15-92F6-C451087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899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Align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yolo_align_pick_place_demo.py · 联合判定节选</a:t>
            </a:r>
          </a:p>
        </p:txBody>
      </p:sp>
      <p:sp>
        <p:nvSpPr>
          <p:cNvPr id="8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FD38A348-FFB8-4210-A254-5B1DA15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057"/>
            <a:ext cx="10610850" cy="107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if stable &gt;= a['stable_frames']: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distance_state = self.infrared_state()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if distance_state == 'ready':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    return target</a:t>
            </a:r>
          </a:p>
        </p:txBody>
      </p:sp>
      <p:sp>
        <p:nvSpPr>
          <p:cNvPr id="9" name="Combine object_sorting.py · 选方向与完成放置后的状态更新节选">
            <a:extLst xmlns:a="http://schemas.openxmlformats.org/drawingml/2006/main">
              <a:ext uri="{FF2B5EF4-FFF2-40B4-BE49-F238E27FC236}">
                <a16:creationId xmlns:a16="http://schemas.microsoft.com/office/drawing/2014/main" id="{EDB307CE-1413-447F-BF2A-EA4919AD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7504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Combine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object_sorting.py · 选方向与完成放置后的状态更新节选</a:t>
            </a:r>
          </a:p>
        </p:txBody>
      </p:sp>
      <p:sp>
        <p:nvSpPr>
          <p:cNvPr id="10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B2AB2187-34BE-44EE-937C-5CC53972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3662"/>
            <a:ext cx="10610850" cy="107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direction = nearest_pending_direction(self.pick_directions, current_heading)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# ……完成该方位的抓取、回位、分类放置与位置检查……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counts[class_id] += 1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direction['status'] = 'taken'</a:t>
            </a:r>
          </a:p>
        </p:txBody>
      </p:sp>
      <p:sp>
        <p:nvSpPr>
          <p:cNvPr id="11" name="当前配置：视觉死区±4%；demo2 原始红外阈值25 mm、正式程序24 mm；正式回位">
            <a:extLst xmlns:a="http://schemas.openxmlformats.org/drawingml/2006/main">
              <a:ext uri="{FF2B5EF4-FFF2-40B4-BE49-F238E27FC236}">
                <a16:creationId xmlns:a16="http://schemas.microsoft.com/office/drawing/2014/main" id="{CFBA2DD9-0AE6-456D-A583-A96AD44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4059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当前配置：视觉死区±4%；demo2 原始红外阈值25 mm、正式程序24 mm；正式回位容差5 cm。</a:t>
            </a:r>
          </a:p>
        </p:txBody>
      </p:sp>
      <p:sp>
        <p:nvSpPr>
          <p:cNvPr id="12" name="7">
            <a:extLst xmlns:a="http://schemas.openxmlformats.org/drawingml/2006/main">
              <a:ext uri="{FF2B5EF4-FFF2-40B4-BE49-F238E27FC236}">
                <a16:creationId xmlns:a16="http://schemas.microsoft.com/office/drawing/2014/main" id="{0FE18033-8A7D-4575-830B-F1B2A9F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0604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9280D212-9E39-4B7D-83C9-113005A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模型训练">
            <a:extLst xmlns:a="http://schemas.openxmlformats.org/drawingml/2006/main">
              <a:ext uri="{FF2B5EF4-FFF2-40B4-BE49-F238E27FC236}">
                <a16:creationId xmlns:a16="http://schemas.microsoft.com/office/drawing/2014/main" id="{58987AE9-0DB4-466A-A468-FD41424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6981"/>
            <a:ext cx="10820400" cy="1228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3" name="MODEL TRAINING">
            <a:extLst xmlns:a="http://schemas.openxmlformats.org/drawingml/2006/main">
              <a:ext uri="{FF2B5EF4-FFF2-40B4-BE49-F238E27FC236}">
                <a16:creationId xmlns:a16="http://schemas.microsoft.com/office/drawing/2014/main" id="{2AB41077-AA32-4AFA-9F5B-6EF6A5E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7957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rPr>
              <a:t>MODEL TRAINING</a:t>
            </a:r>
          </a:p>
        </p:txBody>
      </p:sp>
      <p:sp>
        <p:nvSpPr>
          <p:cNvPr id="4" name="8">
            <a:extLst xmlns:a="http://schemas.openxmlformats.org/drawingml/2006/main">
              <a:ext uri="{FF2B5EF4-FFF2-40B4-BE49-F238E27FC236}">
                <a16:creationId xmlns:a16="http://schemas.microsoft.com/office/drawing/2014/main" id="{0E5F6406-D442-486F-A5FE-E37AE58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96412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973270AD-1679-4D19-B3EB-68FE2FD2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仿真细节">
            <a:extLst xmlns:a="http://schemas.openxmlformats.org/drawingml/2006/main">
              <a:ext uri="{FF2B5EF4-FFF2-40B4-BE49-F238E27FC236}">
                <a16:creationId xmlns:a16="http://schemas.microsoft.com/office/drawing/2014/main" id="{C3381DD8-9DE2-4CA1-A978-FF2DF6C6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6981"/>
            <a:ext cx="10820400" cy="1228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仿真细节</a:t>
            </a:r>
          </a:p>
        </p:txBody>
      </p:sp>
      <p:sp>
        <p:nvSpPr>
          <p:cNvPr id="3" name="SIMULATION">
            <a:extLst xmlns:a="http://schemas.openxmlformats.org/drawingml/2006/main">
              <a:ext uri="{FF2B5EF4-FFF2-40B4-BE49-F238E27FC236}">
                <a16:creationId xmlns:a16="http://schemas.microsoft.com/office/drawing/2014/main" id="{9F91909C-C972-4BA5-97BD-F059E7A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7957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rPr>
              <a:t>SIMULATION</a:t>
            </a:r>
          </a:p>
        </p:txBody>
      </p:sp>
      <p:sp>
        <p:nvSpPr>
          <p:cNvPr id="4" name="9">
            <a:extLst xmlns:a="http://schemas.openxmlformats.org/drawingml/2006/main">
              <a:ext uri="{FF2B5EF4-FFF2-40B4-BE49-F238E27FC236}">
                <a16:creationId xmlns:a16="http://schemas.microsoft.com/office/drawing/2014/main" id="{4E436607-62D3-4857-AA6F-598D519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11940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ferences">
            <a:extLst xmlns:a="http://schemas.openxmlformats.org/drawingml/2006/main">
              <a:ext uri="{FF2B5EF4-FFF2-40B4-BE49-F238E27FC236}">
                <a16:creationId xmlns:a16="http://schemas.microsoft.com/office/drawing/2014/main" id="{4D97128B-26FC-4A37-8CF3-1F266DD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8301"/>
            <a:ext cx="10820400" cy="92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References</a:t>
            </a:r>
          </a:p>
        </p:txBody>
      </p:sp>
      <p:sp>
        <p:nvSpPr>
          <p:cNvPr id="2" name="01　RoboMaster EP 模型与 ROS 接入">
            <a:extLst xmlns:a="http://schemas.openxmlformats.org/drawingml/2006/main">
              <a:ext uri="{FF2B5EF4-FFF2-40B4-BE49-F238E27FC236}">
                <a16:creationId xmlns:a16="http://schemas.microsoft.com/office/drawing/2014/main" id="{1CCFA9DD-DA5D-4861-9476-A077ED0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9888"/>
            <a:ext cx="1082040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01　RoboMaster EP 模型与 ROS 接入</a:t>
            </a:r>
          </a:p>
        </p:txBody>
      </p:sp>
      <p:sp>
        <p:nvSpPr>
          <p:cNvPr id="3" name="jeguzzi / robomaster_ros">
            <a:extLst xmlns:a="http://schemas.openxmlformats.org/drawingml/2006/main">
              <a:ext uri="{FF2B5EF4-FFF2-40B4-BE49-F238E27FC236}">
                <a16:creationId xmlns:a16="http://schemas.microsoft.com/office/drawing/2014/main" id="{E1DA9B54-63ED-4593-915C-97E71CE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6569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dc9539bca4e49e7"/>
              </a:rPr>
              <a:t>jeguzzi / robomaster_ros</a:t>
            </a:r>
          </a:p>
        </p:txBody>
      </p:sp>
      <p:sp>
        <p:nvSpPr>
          <p:cNvPr id="4" name="EP 仿真所参考的机器人模型与 ROS 2 接入资源。">
            <a:extLst xmlns:a="http://schemas.openxmlformats.org/drawingml/2006/main">
              <a:ext uri="{FF2B5EF4-FFF2-40B4-BE49-F238E27FC236}">
                <a16:creationId xmlns:a16="http://schemas.microsoft.com/office/drawing/2014/main" id="{F2C2749B-E008-4A74-ACBC-FA3ADB1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2356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EP 仿真所参考的机器人模型与 ROS 2 接入资源。</a:t>
            </a:r>
          </a:p>
        </p:txBody>
      </p:sp>
      <p:sp>
        <p:nvSpPr>
          <p:cNvPr id="5" name="02　Ultralytics YOLO 官方文档">
            <a:extLst xmlns:a="http://schemas.openxmlformats.org/drawingml/2006/main">
              <a:ext uri="{FF2B5EF4-FFF2-40B4-BE49-F238E27FC236}">
                <a16:creationId xmlns:a16="http://schemas.microsoft.com/office/drawing/2014/main" id="{D2F25419-021B-4219-9781-D5FEB98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1481"/>
            <a:ext cx="1082040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02　Ultralytics YOLO 官方文档</a:t>
            </a:r>
          </a:p>
        </p:txBody>
      </p:sp>
      <p:sp>
        <p:nvSpPr>
          <p:cNvPr id="6" name="docs.ultralytics.com/models/yolo26/">
            <a:extLst xmlns:a="http://schemas.openxmlformats.org/drawingml/2006/main">
              <a:ext uri="{FF2B5EF4-FFF2-40B4-BE49-F238E27FC236}">
                <a16:creationId xmlns:a16="http://schemas.microsoft.com/office/drawing/2014/main" id="{67452236-5811-4462-AE17-F04716F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8162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c1230e2bb2541c9"/>
              </a:rPr>
              <a:t>docs.ultralytics.com/models/yolo26/</a:t>
            </a:r>
          </a:p>
        </p:txBody>
      </p:sp>
      <p:sp>
        <p:nvSpPr>
          <p:cNvPr id="7" name="当前实机默认使用普通官方 yolo26m.pt。">
            <a:extLst xmlns:a="http://schemas.openxmlformats.org/drawingml/2006/main">
              <a:ext uri="{FF2B5EF4-FFF2-40B4-BE49-F238E27FC236}">
                <a16:creationId xmlns:a16="http://schemas.microsoft.com/office/drawing/2014/main" id="{94F62118-F33D-40A1-8675-24640A38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949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当前实机默认使用普通官方 yolo26m.pt。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D6E5E163-3DA3-4184-ACC3-5666D11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5386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2026-09-19T07:36:07.3950000Z</dcterms:created>
  <dcterms:modified xsi:type="dcterms:W3CDTF">2026-09-19T07:36:07.3950000Z</dcterms:modified>
</coreProperties>
</file>